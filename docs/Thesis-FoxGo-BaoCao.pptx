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97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6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marL="180340" marR="179705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BÁO CÁO KHÓA LUẬN TỐT NGHIỆP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Đề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tài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Thiết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xây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dựng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hệ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thống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đặt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dịch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vụ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hướng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kiến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trúc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vi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dịch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vụ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defRPr sz="1400"/>
            </a:pPr>
            <a:r>
              <a:rPr dirty="0" err="1"/>
              <a:t>Thông</a:t>
            </a:r>
            <a:r>
              <a:rPr dirty="0"/>
              <a:t> tin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:</a:t>
            </a:r>
          </a:p>
          <a:p>
            <a:pPr>
              <a:defRPr sz="1400"/>
            </a:pP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1: Trần Quốc Sáng - 22640841</a:t>
            </a:r>
            <a:endParaRPr dirty="0"/>
          </a:p>
          <a:p>
            <a:pPr>
              <a:defRPr sz="1400"/>
            </a:pP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1: </a:t>
            </a:r>
            <a:r>
              <a:rPr lang="en-US" dirty="0" err="1"/>
              <a:t>Dương</a:t>
            </a:r>
            <a:r>
              <a:rPr lang="en-US" dirty="0"/>
              <a:t> </a:t>
            </a:r>
            <a:r>
              <a:rPr lang="en-US" dirty="0" err="1"/>
              <a:t>Đức</a:t>
            </a:r>
            <a:r>
              <a:rPr lang="en-US" dirty="0"/>
              <a:t> </a:t>
            </a:r>
            <a:r>
              <a:rPr lang="en-US" dirty="0" err="1"/>
              <a:t>Quý</a:t>
            </a:r>
            <a:r>
              <a:rPr lang="en-US" dirty="0"/>
              <a:t> - 21131061</a:t>
            </a:r>
          </a:p>
          <a:p>
            <a:pPr>
              <a:defRPr sz="1400"/>
            </a:pPr>
            <a:r>
              <a:rPr dirty="0"/>
              <a:t>GVHD: </a:t>
            </a:r>
            <a:r>
              <a:rPr dirty="0" err="1"/>
              <a:t>ThS</a:t>
            </a:r>
            <a:r>
              <a:rPr dirty="0"/>
              <a:t> </a:t>
            </a:r>
            <a:r>
              <a:rPr dirty="0" err="1"/>
              <a:t>Huỳnh</a:t>
            </a:r>
            <a:r>
              <a:rPr dirty="0"/>
              <a:t> Nam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000"/>
            </a:pPr>
            <a:r>
              <a:t>Danh sách 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bIns="73152"/>
          <a:lstStyle/>
          <a:p>
            <a:pPr marL="0" indent="0">
              <a:spcAft>
                <a:spcPts val="300"/>
              </a:spcAft>
              <a:buNone/>
              <a:defRPr sz="1100"/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Đặt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vấn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(Problem and scope)</a:t>
            </a:r>
          </a:p>
          <a:p>
            <a:pPr marL="0" indent="0">
              <a:spcAft>
                <a:spcPts val="300"/>
              </a:spcAft>
              <a:buNone/>
              <a:defRPr sz="1100"/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Thu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thập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yêu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cầu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khảo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sát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nghiệp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vụ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(Requirement and survey)</a:t>
            </a:r>
          </a:p>
          <a:p>
            <a:pPr marL="0" indent="0">
              <a:spcAft>
                <a:spcPts val="300"/>
              </a:spcAft>
              <a:buNone/>
              <a:defRPr sz="1100"/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tích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nghiệp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vụ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(Domain or business model / Domain driven design)</a:t>
            </a:r>
          </a:p>
          <a:p>
            <a:pPr marL="0" indent="0">
              <a:spcAft>
                <a:spcPts val="300"/>
              </a:spcAft>
              <a:buNone/>
              <a:defRPr sz="1100"/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tích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chức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năng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(Use case diagram)</a:t>
            </a:r>
          </a:p>
          <a:p>
            <a:pPr marL="0" indent="0">
              <a:spcAft>
                <a:spcPts val="300"/>
              </a:spcAft>
              <a:buNone/>
              <a:defRPr sz="1100"/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kiến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trúc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(System architecture design - SAD)</a:t>
            </a:r>
          </a:p>
          <a:p>
            <a:pPr marL="0" indent="0">
              <a:spcAft>
                <a:spcPts val="300"/>
              </a:spcAft>
              <a:buNone/>
              <a:defRPr sz="1100"/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Mẫu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phần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mềm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(Design Pattern)</a:t>
            </a:r>
          </a:p>
          <a:p>
            <a:pPr marL="0" indent="0">
              <a:spcAft>
                <a:spcPts val="300"/>
              </a:spcAft>
              <a:buNone/>
              <a:defRPr sz="1100"/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7.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Cài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đặt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triển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khai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(CI/CD)</a:t>
            </a:r>
          </a:p>
          <a:p>
            <a:pPr marL="0" indent="0">
              <a:spcAft>
                <a:spcPts val="300"/>
              </a:spcAft>
              <a:buNone/>
              <a:defRPr sz="1100"/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8.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Ứng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AI (AI / AI agent pipeline)</a:t>
            </a:r>
          </a:p>
          <a:p>
            <a:pPr marL="0" indent="0">
              <a:spcAft>
                <a:spcPts val="300"/>
              </a:spcAft>
              <a:buNone/>
              <a:defRPr sz="1100"/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9.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Giám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sát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(System monitor)</a:t>
            </a:r>
          </a:p>
          <a:p>
            <a:pPr marL="0" indent="0">
              <a:spcAft>
                <a:spcPts val="300"/>
              </a:spcAft>
              <a:buNone/>
              <a:defRPr sz="1100"/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Tối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ưu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kiến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trúc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giao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dịch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(Transaction process) —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thanh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toán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trực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tuyến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MSA</a:t>
            </a:r>
          </a:p>
          <a:p>
            <a:pPr marL="0" indent="0">
              <a:spcAft>
                <a:spcPts val="300"/>
              </a:spcAft>
              <a:buNone/>
              <a:defRPr sz="1100"/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11.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Tối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ưu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hóa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đáp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ứng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nhu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cầu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(System scalability)</a:t>
            </a:r>
          </a:p>
          <a:p>
            <a:pPr marL="0" indent="0">
              <a:spcAft>
                <a:spcPts val="300"/>
              </a:spcAft>
              <a:buNone/>
              <a:defRPr sz="1100"/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12.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Tăng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cường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bảo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mật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(Information Security, Data security)</a:t>
            </a:r>
          </a:p>
          <a:p>
            <a:pPr marL="0" indent="0">
              <a:spcAft>
                <a:spcPts val="300"/>
              </a:spcAft>
              <a:buNone/>
              <a:defRPr sz="1100"/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13.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luận</a:t>
            </a:r>
            <a:endParaRPr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spcAft>
                <a:spcPts val="300"/>
              </a:spcAft>
              <a:buNone/>
              <a:defRPr sz="1100"/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14.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000"/>
            </a:pPr>
            <a:r>
              <a:t>1. Đặt vấn đề (Problem and scope)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37176" cy="4525963"/>
          </a:xfrm>
        </p:spPr>
        <p:txBody>
          <a:bodyPr wrap="square" lIns="45720" bIns="73152">
            <a:normAutofit/>
          </a:bodyPr>
          <a:lstStyle/>
          <a:p>
            <a:pPr marL="0" indent="0">
              <a:spcAft>
                <a:spcPts val="1000"/>
              </a:spcAft>
              <a:buNone/>
              <a:defRPr sz="1900">
                <a:solidFill>
                  <a:srgbClr val="1E293B"/>
                </a:solidFill>
              </a:defRPr>
            </a:pPr>
            <a:r>
              <a:rPr lang="vi-VN" sz="1300" dirty="0">
                <a:latin typeface="+mj-lt"/>
              </a:rPr>
              <a:t>• Trong </a:t>
            </a:r>
            <a:r>
              <a:rPr lang="vi-VN" sz="1300" dirty="0" err="1">
                <a:latin typeface="+mj-lt"/>
              </a:rPr>
              <a:t>những</a:t>
            </a:r>
            <a:r>
              <a:rPr lang="vi-VN" sz="1300" dirty="0">
                <a:latin typeface="+mj-lt"/>
              </a:rPr>
              <a:t> năm </a:t>
            </a:r>
            <a:r>
              <a:rPr lang="vi-VN" sz="1300" dirty="0" err="1">
                <a:latin typeface="+mj-lt"/>
              </a:rPr>
              <a:t>gần</a:t>
            </a:r>
            <a:r>
              <a:rPr lang="vi-VN" sz="1300" dirty="0">
                <a:latin typeface="+mj-lt"/>
              </a:rPr>
              <a:t> đây, </a:t>
            </a:r>
            <a:r>
              <a:rPr lang="vi-VN" sz="1300" dirty="0" err="1">
                <a:latin typeface="+mj-lt"/>
              </a:rPr>
              <a:t>các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nền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tảng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gọi</a:t>
            </a:r>
            <a:r>
              <a:rPr lang="vi-VN" sz="1300" dirty="0">
                <a:latin typeface="+mj-lt"/>
              </a:rPr>
              <a:t> xe công </a:t>
            </a:r>
            <a:r>
              <a:rPr lang="vi-VN" sz="1300" dirty="0" err="1">
                <a:latin typeface="+mj-lt"/>
              </a:rPr>
              <a:t>nghệ</a:t>
            </a:r>
            <a:r>
              <a:rPr lang="vi-VN" sz="1300" dirty="0">
                <a:latin typeface="+mj-lt"/>
              </a:rPr>
              <a:t> như </a:t>
            </a:r>
            <a:r>
              <a:rPr lang="vi-VN" sz="1300" dirty="0" err="1">
                <a:latin typeface="+mj-lt"/>
              </a:rPr>
              <a:t>Grab</a:t>
            </a:r>
            <a:r>
              <a:rPr lang="vi-VN" sz="1300" dirty="0">
                <a:latin typeface="+mj-lt"/>
              </a:rPr>
              <a:t>, </a:t>
            </a:r>
            <a:r>
              <a:rPr lang="en-US" sz="1300" dirty="0" err="1">
                <a:latin typeface="+mj-lt"/>
              </a:rPr>
              <a:t>Xanh</a:t>
            </a:r>
            <a:r>
              <a:rPr lang="en-US" sz="1300" dirty="0">
                <a:latin typeface="+mj-lt"/>
              </a:rPr>
              <a:t> SM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và</a:t>
            </a:r>
            <a:r>
              <a:rPr lang="vi-VN" sz="1300" dirty="0">
                <a:latin typeface="+mj-lt"/>
              </a:rPr>
              <a:t> Be </a:t>
            </a:r>
            <a:r>
              <a:rPr lang="vi-VN" sz="1300" dirty="0" err="1">
                <a:latin typeface="+mj-lt"/>
              </a:rPr>
              <a:t>đã</a:t>
            </a:r>
            <a:r>
              <a:rPr lang="vi-VN" sz="1300" dirty="0">
                <a:latin typeface="+mj-lt"/>
              </a:rPr>
              <a:t> thay </a:t>
            </a:r>
            <a:r>
              <a:rPr lang="vi-VN" sz="1300" dirty="0" err="1">
                <a:latin typeface="+mj-lt"/>
              </a:rPr>
              <a:t>đổi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mạnh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mẽ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thói</a:t>
            </a:r>
            <a:r>
              <a:rPr lang="vi-VN" sz="1300" dirty="0">
                <a:latin typeface="+mj-lt"/>
              </a:rPr>
              <a:t> quen di </a:t>
            </a:r>
            <a:r>
              <a:rPr lang="vi-VN" sz="1300" dirty="0" err="1">
                <a:latin typeface="+mj-lt"/>
              </a:rPr>
              <a:t>chuyển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của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người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dùng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tại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Việt</a:t>
            </a:r>
            <a:r>
              <a:rPr lang="vi-VN" sz="1300" dirty="0">
                <a:latin typeface="+mj-lt"/>
              </a:rPr>
              <a:t> Nam.</a:t>
            </a:r>
          </a:p>
          <a:p>
            <a:pPr marL="0" indent="0">
              <a:spcAft>
                <a:spcPts val="1000"/>
              </a:spcAft>
              <a:buNone/>
              <a:defRPr sz="1900">
                <a:solidFill>
                  <a:srgbClr val="1E293B"/>
                </a:solidFill>
              </a:defRPr>
            </a:pPr>
            <a:r>
              <a:rPr lang="vi-VN" sz="1300" dirty="0">
                <a:latin typeface="+mj-lt"/>
              </a:rPr>
              <a:t>• Tuy nhiên, </a:t>
            </a:r>
            <a:r>
              <a:rPr lang="vi-VN" sz="1300" dirty="0" err="1">
                <a:latin typeface="+mj-lt"/>
              </a:rPr>
              <a:t>các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hệ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thống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gọi</a:t>
            </a:r>
            <a:r>
              <a:rPr lang="vi-VN" sz="1300" dirty="0">
                <a:latin typeface="+mj-lt"/>
              </a:rPr>
              <a:t> xe </a:t>
            </a:r>
            <a:r>
              <a:rPr lang="vi-VN" sz="1300" dirty="0" err="1">
                <a:latin typeface="+mj-lt"/>
              </a:rPr>
              <a:t>hiện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đại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đòi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hỏi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khả</a:t>
            </a:r>
            <a:r>
              <a:rPr lang="vi-VN" sz="1300" dirty="0">
                <a:latin typeface="+mj-lt"/>
              </a:rPr>
              <a:t> năng </a:t>
            </a:r>
            <a:r>
              <a:rPr lang="vi-VN" sz="1300" dirty="0" err="1">
                <a:latin typeface="+mj-lt"/>
              </a:rPr>
              <a:t>xử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lý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realtime</a:t>
            </a:r>
            <a:r>
              <a:rPr lang="vi-VN" sz="1300" dirty="0">
                <a:latin typeface="+mj-lt"/>
              </a:rPr>
              <a:t>, </a:t>
            </a:r>
            <a:r>
              <a:rPr lang="vi-VN" sz="1300" dirty="0" err="1">
                <a:latin typeface="+mj-lt"/>
              </a:rPr>
              <a:t>định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vị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chính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xác</a:t>
            </a:r>
            <a:r>
              <a:rPr lang="vi-VN" sz="1300" dirty="0">
                <a:latin typeface="+mj-lt"/>
              </a:rPr>
              <a:t>, </a:t>
            </a:r>
            <a:r>
              <a:rPr lang="vi-VN" sz="1300" dirty="0" err="1">
                <a:latin typeface="+mj-lt"/>
              </a:rPr>
              <a:t>quản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lý</a:t>
            </a:r>
            <a:r>
              <a:rPr lang="vi-VN" sz="1300" dirty="0">
                <a:latin typeface="+mj-lt"/>
              </a:rPr>
              <a:t> giao </a:t>
            </a:r>
            <a:r>
              <a:rPr lang="vi-VN" sz="1300" dirty="0" err="1">
                <a:latin typeface="+mj-lt"/>
              </a:rPr>
              <a:t>dịch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tài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chính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và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mở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rộng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hệ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thống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với</a:t>
            </a:r>
            <a:r>
              <a:rPr lang="vi-VN" sz="1300" dirty="0">
                <a:latin typeface="+mj-lt"/>
              </a:rPr>
              <a:t> lưu </a:t>
            </a:r>
            <a:r>
              <a:rPr lang="vi-VN" sz="1300" dirty="0" err="1">
                <a:latin typeface="+mj-lt"/>
              </a:rPr>
              <a:t>lượng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lớn</a:t>
            </a:r>
            <a:r>
              <a:rPr lang="vi-VN" sz="1300" dirty="0">
                <a:latin typeface="+mj-lt"/>
              </a:rPr>
              <a:t>.</a:t>
            </a:r>
          </a:p>
          <a:p>
            <a:pPr marL="0" indent="0">
              <a:spcAft>
                <a:spcPts val="1000"/>
              </a:spcAft>
              <a:buNone/>
              <a:defRPr sz="1900">
                <a:solidFill>
                  <a:srgbClr val="1E293B"/>
                </a:solidFill>
              </a:defRPr>
            </a:pPr>
            <a:r>
              <a:rPr lang="vi-VN" sz="1300" dirty="0">
                <a:latin typeface="+mj-lt"/>
              </a:rPr>
              <a:t>• </a:t>
            </a:r>
            <a:r>
              <a:rPr lang="vi-VN" sz="1300" dirty="0" err="1">
                <a:latin typeface="+mj-lt"/>
              </a:rPr>
              <a:t>Nhóm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thực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hiện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đề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tài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nhằm</a:t>
            </a:r>
            <a:r>
              <a:rPr lang="vi-VN" sz="1300" dirty="0">
                <a:latin typeface="+mj-lt"/>
              </a:rPr>
              <a:t> nghiên </a:t>
            </a:r>
            <a:r>
              <a:rPr lang="vi-VN" sz="1300" dirty="0" err="1">
                <a:latin typeface="+mj-lt"/>
              </a:rPr>
              <a:t>cứu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và</a:t>
            </a:r>
            <a:r>
              <a:rPr lang="vi-VN" sz="1300" dirty="0">
                <a:latin typeface="+mj-lt"/>
              </a:rPr>
              <a:t> xây </a:t>
            </a:r>
            <a:r>
              <a:rPr lang="vi-VN" sz="1300" dirty="0" err="1">
                <a:latin typeface="+mj-lt"/>
              </a:rPr>
              <a:t>dựng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một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hệ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thống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đặt</a:t>
            </a:r>
            <a:r>
              <a:rPr lang="vi-VN" sz="1300" dirty="0">
                <a:latin typeface="+mj-lt"/>
              </a:rPr>
              <a:t> xe </a:t>
            </a:r>
            <a:r>
              <a:rPr lang="vi-VN" sz="1300" dirty="0" err="1">
                <a:latin typeface="+mj-lt"/>
              </a:rPr>
              <a:t>hoàn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chỉnh</a:t>
            </a:r>
            <a:r>
              <a:rPr lang="vi-VN" sz="1300" dirty="0">
                <a:latin typeface="+mj-lt"/>
              </a:rPr>
              <a:t> theo </a:t>
            </a:r>
            <a:r>
              <a:rPr lang="vi-VN" sz="1300" dirty="0" err="1">
                <a:latin typeface="+mj-lt"/>
              </a:rPr>
              <a:t>hướng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hiện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đại</a:t>
            </a:r>
            <a:r>
              <a:rPr lang="vi-VN" sz="1300" dirty="0">
                <a:latin typeface="+mj-lt"/>
              </a:rPr>
              <a:t>, mô </a:t>
            </a:r>
            <a:r>
              <a:rPr lang="vi-VN" sz="1300" dirty="0" err="1">
                <a:latin typeface="+mj-lt"/>
              </a:rPr>
              <a:t>phỏng</a:t>
            </a:r>
            <a:r>
              <a:rPr lang="vi-VN" sz="1300" dirty="0">
                <a:latin typeface="+mj-lt"/>
              </a:rPr>
              <a:t> mô </a:t>
            </a:r>
            <a:r>
              <a:rPr lang="vi-VN" sz="1300" dirty="0" err="1">
                <a:latin typeface="+mj-lt"/>
              </a:rPr>
              <a:t>hình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vận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hành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thực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tế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của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các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nền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tảng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ride-hailing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hiện</a:t>
            </a:r>
            <a:r>
              <a:rPr lang="vi-VN" sz="1300" dirty="0">
                <a:latin typeface="+mj-lt"/>
              </a:rPr>
              <a:t> nay.</a:t>
            </a:r>
          </a:p>
          <a:p>
            <a:pPr marL="0" indent="0">
              <a:spcAft>
                <a:spcPts val="1000"/>
              </a:spcAft>
              <a:buNone/>
              <a:defRPr sz="1900">
                <a:solidFill>
                  <a:srgbClr val="1E293B"/>
                </a:solidFill>
              </a:defRPr>
            </a:pPr>
            <a:r>
              <a:rPr lang="vi-VN" sz="1300" dirty="0">
                <a:latin typeface="+mj-lt"/>
              </a:rPr>
              <a:t>• </a:t>
            </a:r>
            <a:r>
              <a:rPr lang="vi-VN" sz="1300" dirty="0" err="1">
                <a:latin typeface="+mj-lt"/>
              </a:rPr>
              <a:t>Đề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tài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đồng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thời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tập</a:t>
            </a:r>
            <a:r>
              <a:rPr lang="vi-VN" sz="1300" dirty="0">
                <a:latin typeface="+mj-lt"/>
              </a:rPr>
              <a:t> trung </a:t>
            </a:r>
            <a:r>
              <a:rPr lang="vi-VN" sz="1300" dirty="0" err="1">
                <a:latin typeface="+mj-lt"/>
              </a:rPr>
              <a:t>vào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khả</a:t>
            </a:r>
            <a:r>
              <a:rPr lang="vi-VN" sz="1300" dirty="0">
                <a:latin typeface="+mj-lt"/>
              </a:rPr>
              <a:t> năng </a:t>
            </a:r>
            <a:r>
              <a:rPr lang="vi-VN" sz="1300" dirty="0" err="1">
                <a:latin typeface="+mj-lt"/>
              </a:rPr>
              <a:t>ứng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dụng</a:t>
            </a:r>
            <a:r>
              <a:rPr lang="vi-VN" sz="1300" dirty="0">
                <a:latin typeface="+mj-lt"/>
              </a:rPr>
              <a:t> AI, </a:t>
            </a:r>
            <a:r>
              <a:rPr lang="vi-VN" sz="1300" dirty="0" err="1">
                <a:latin typeface="+mj-lt"/>
              </a:rPr>
              <a:t>microservices</a:t>
            </a:r>
            <a:r>
              <a:rPr lang="vi-VN" sz="1300" dirty="0">
                <a:latin typeface="+mj-lt"/>
              </a:rPr>
              <a:t>, </a:t>
            </a:r>
            <a:r>
              <a:rPr lang="vi-VN" sz="1300" dirty="0" err="1">
                <a:latin typeface="+mj-lt"/>
              </a:rPr>
              <a:t>cloud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deployment</a:t>
            </a:r>
            <a:r>
              <a:rPr lang="vi-VN" sz="1300" dirty="0">
                <a:latin typeface="+mj-lt"/>
              </a:rPr>
              <a:t> trong </a:t>
            </a:r>
            <a:r>
              <a:rPr lang="vi-VN" sz="1300" dirty="0" err="1">
                <a:latin typeface="+mj-lt"/>
              </a:rPr>
              <a:t>một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hệ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thống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thống</a:t>
            </a:r>
            <a:r>
              <a:rPr lang="vi-VN" sz="1300" dirty="0">
                <a:latin typeface="+mj-lt"/>
              </a:rPr>
              <a:t> </a:t>
            </a:r>
            <a:r>
              <a:rPr lang="vi-VN" sz="1300" dirty="0" err="1">
                <a:latin typeface="+mj-lt"/>
              </a:rPr>
              <a:t>nhất</a:t>
            </a:r>
            <a:r>
              <a:rPr lang="vi-VN" sz="1300" dirty="0">
                <a:latin typeface="+mj-l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12868"/>
          </a:xfrm>
        </p:spPr>
        <p:txBody>
          <a:bodyPr wrap="square"/>
          <a:lstStyle/>
          <a:p>
            <a:pPr>
              <a:defRPr sz="2000"/>
            </a:pPr>
            <a:r>
              <a:rPr dirty="0"/>
              <a:t>2. Thu </a:t>
            </a:r>
            <a:r>
              <a:rPr dirty="0" err="1"/>
              <a:t>thập</a:t>
            </a:r>
            <a:r>
              <a:rPr dirty="0"/>
              <a:t> </a:t>
            </a:r>
            <a:r>
              <a:rPr dirty="0" err="1"/>
              <a:t>yêu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khảo</a:t>
            </a:r>
            <a:r>
              <a:rPr dirty="0"/>
              <a:t> </a:t>
            </a:r>
            <a:r>
              <a:rPr dirty="0" err="1"/>
              <a:t>sát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(Requirement and survey)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814" y="4034118"/>
            <a:ext cx="8319246" cy="4509248"/>
          </a:xfrm>
        </p:spPr>
        <p:txBody>
          <a:bodyPr wrap="square" lIns="45720" bIns="73152">
            <a:normAutofit/>
          </a:bodyPr>
          <a:lstStyle/>
          <a:p>
            <a:pPr marL="0" indent="0">
              <a:spcAft>
                <a:spcPts val="1000"/>
              </a:spcAft>
              <a:buNone/>
              <a:defRPr sz="1900">
                <a:solidFill>
                  <a:srgbClr val="1E293B"/>
                </a:solidFill>
              </a:defRPr>
            </a:pPr>
            <a:r>
              <a:rPr lang="vi-VN" sz="1200" dirty="0"/>
              <a:t>• </a:t>
            </a:r>
            <a:r>
              <a:rPr lang="vi-VN" sz="1200" dirty="0" err="1"/>
              <a:t>Nhóm</a:t>
            </a:r>
            <a:r>
              <a:rPr lang="vi-VN" sz="1200" dirty="0"/>
              <a:t> </a:t>
            </a:r>
            <a:r>
              <a:rPr lang="vi-VN" sz="1200" dirty="0" err="1"/>
              <a:t>thực</a:t>
            </a:r>
            <a:r>
              <a:rPr lang="vi-VN" sz="1200" dirty="0"/>
              <a:t> </a:t>
            </a:r>
            <a:r>
              <a:rPr lang="vi-VN" sz="1200" dirty="0" err="1"/>
              <a:t>hiện</a:t>
            </a:r>
            <a:r>
              <a:rPr lang="vi-VN" sz="1200" dirty="0"/>
              <a:t> </a:t>
            </a:r>
            <a:r>
              <a:rPr lang="vi-VN" sz="1200" dirty="0" err="1"/>
              <a:t>đã</a:t>
            </a:r>
            <a:r>
              <a:rPr lang="vi-VN" sz="1200" dirty="0"/>
              <a:t> </a:t>
            </a:r>
            <a:r>
              <a:rPr lang="vi-VN" sz="1200" dirty="0" err="1"/>
              <a:t>tiến</a:t>
            </a:r>
            <a:r>
              <a:rPr lang="vi-VN" sz="1200" dirty="0"/>
              <a:t> </a:t>
            </a:r>
            <a:r>
              <a:rPr lang="vi-VN" sz="1200" dirty="0" err="1"/>
              <a:t>hành</a:t>
            </a:r>
            <a:r>
              <a:rPr lang="vi-VN" sz="1200" dirty="0"/>
              <a:t> </a:t>
            </a:r>
            <a:r>
              <a:rPr lang="vi-VN" sz="1200" dirty="0" err="1"/>
              <a:t>khảo</a:t>
            </a:r>
            <a:r>
              <a:rPr lang="vi-VN" sz="1200" dirty="0"/>
              <a:t> </a:t>
            </a:r>
            <a:r>
              <a:rPr lang="vi-VN" sz="1200" dirty="0" err="1"/>
              <a:t>sát</a:t>
            </a:r>
            <a:r>
              <a:rPr lang="vi-VN" sz="1200" dirty="0"/>
              <a:t> nhu </a:t>
            </a:r>
            <a:r>
              <a:rPr lang="vi-VN" sz="1200" dirty="0" err="1"/>
              <a:t>cầu</a:t>
            </a:r>
            <a:r>
              <a:rPr lang="vi-VN" sz="1200" dirty="0"/>
              <a:t> </a:t>
            </a:r>
            <a:r>
              <a:rPr lang="vi-VN" sz="1200" dirty="0" err="1"/>
              <a:t>sử</a:t>
            </a:r>
            <a:r>
              <a:rPr lang="vi-VN" sz="1200" dirty="0"/>
              <a:t> </a:t>
            </a:r>
            <a:r>
              <a:rPr lang="vi-VN" sz="1200" dirty="0" err="1"/>
              <a:t>dụng</a:t>
            </a:r>
            <a:r>
              <a:rPr lang="vi-VN" sz="1200" dirty="0"/>
              <a:t> </a:t>
            </a:r>
            <a:r>
              <a:rPr lang="vi-VN" sz="1200" dirty="0" err="1"/>
              <a:t>ứng</a:t>
            </a:r>
            <a:r>
              <a:rPr lang="vi-VN" sz="1200" dirty="0"/>
              <a:t> </a:t>
            </a:r>
            <a:r>
              <a:rPr lang="vi-VN" sz="1200" dirty="0" err="1"/>
              <a:t>dụng</a:t>
            </a:r>
            <a:r>
              <a:rPr lang="vi-VN" sz="1200" dirty="0"/>
              <a:t> </a:t>
            </a:r>
            <a:r>
              <a:rPr lang="vi-VN" sz="1200" dirty="0" err="1"/>
              <a:t>gọi</a:t>
            </a:r>
            <a:r>
              <a:rPr lang="vi-VN" sz="1200" dirty="0"/>
              <a:t> xe </a:t>
            </a:r>
            <a:r>
              <a:rPr lang="vi-VN" sz="1200" dirty="0" err="1"/>
              <a:t>nhằm</a:t>
            </a:r>
            <a:r>
              <a:rPr lang="vi-VN" sz="1200" dirty="0"/>
              <a:t> </a:t>
            </a:r>
            <a:r>
              <a:rPr lang="vi-VN" sz="1200" dirty="0" err="1"/>
              <a:t>xác</a:t>
            </a:r>
            <a:r>
              <a:rPr lang="vi-VN" sz="1200" dirty="0"/>
              <a:t> </a:t>
            </a:r>
            <a:r>
              <a:rPr lang="vi-VN" sz="1200" dirty="0" err="1"/>
              <a:t>định</a:t>
            </a:r>
            <a:r>
              <a:rPr lang="vi-VN" sz="1200" dirty="0"/>
              <a:t> </a:t>
            </a:r>
            <a:r>
              <a:rPr lang="vi-VN" sz="1200" dirty="0" err="1"/>
              <a:t>các</a:t>
            </a:r>
            <a:r>
              <a:rPr lang="vi-VN" sz="1200" dirty="0"/>
              <a:t> </a:t>
            </a:r>
            <a:r>
              <a:rPr lang="vi-VN" sz="1200" dirty="0" err="1"/>
              <a:t>vấn</a:t>
            </a:r>
            <a:r>
              <a:rPr lang="vi-VN" sz="1200" dirty="0"/>
              <a:t> </a:t>
            </a:r>
            <a:r>
              <a:rPr lang="vi-VN" sz="1200" dirty="0" err="1"/>
              <a:t>đề</a:t>
            </a:r>
            <a:r>
              <a:rPr lang="vi-VN" sz="1200" dirty="0"/>
              <a:t> </a:t>
            </a:r>
            <a:r>
              <a:rPr lang="vi-VN" sz="1200" dirty="0" err="1"/>
              <a:t>người</a:t>
            </a:r>
            <a:r>
              <a:rPr lang="vi-VN" sz="1200" dirty="0"/>
              <a:t> </a:t>
            </a:r>
            <a:r>
              <a:rPr lang="vi-VN" sz="1200" dirty="0" err="1"/>
              <a:t>dùng</a:t>
            </a:r>
            <a:r>
              <a:rPr lang="vi-VN" sz="1200" dirty="0"/>
              <a:t> quan tâm </a:t>
            </a:r>
            <a:r>
              <a:rPr lang="vi-VN" sz="1200" dirty="0" err="1"/>
              <a:t>nhất</a:t>
            </a:r>
            <a:r>
              <a:rPr lang="vi-VN" sz="1200" dirty="0"/>
              <a:t>.</a:t>
            </a:r>
          </a:p>
          <a:p>
            <a:pPr marL="0" indent="0">
              <a:spcAft>
                <a:spcPts val="1000"/>
              </a:spcAft>
              <a:buNone/>
              <a:defRPr sz="1900">
                <a:solidFill>
                  <a:srgbClr val="1E293B"/>
                </a:solidFill>
              </a:defRPr>
            </a:pPr>
            <a:r>
              <a:rPr lang="vi-VN" sz="1200" dirty="0"/>
              <a:t>• </a:t>
            </a:r>
            <a:r>
              <a:rPr lang="vi-VN" sz="1200" dirty="0" err="1"/>
              <a:t>Kết</a:t>
            </a:r>
            <a:r>
              <a:rPr lang="vi-VN" sz="1200" dirty="0"/>
              <a:t> </a:t>
            </a:r>
            <a:r>
              <a:rPr lang="vi-VN" sz="1200" dirty="0" err="1"/>
              <a:t>quả</a:t>
            </a:r>
            <a:r>
              <a:rPr lang="vi-VN" sz="1200" dirty="0"/>
              <a:t> </a:t>
            </a:r>
            <a:r>
              <a:rPr lang="vi-VN" sz="1200" dirty="0" err="1"/>
              <a:t>khảo</a:t>
            </a:r>
            <a:r>
              <a:rPr lang="vi-VN" sz="1200" dirty="0"/>
              <a:t> </a:t>
            </a:r>
            <a:r>
              <a:rPr lang="vi-VN" sz="1200" dirty="0" err="1"/>
              <a:t>sát</a:t>
            </a:r>
            <a:r>
              <a:rPr lang="vi-VN" sz="1200" dirty="0"/>
              <a:t> cho </a:t>
            </a:r>
            <a:r>
              <a:rPr lang="vi-VN" sz="1200" dirty="0" err="1"/>
              <a:t>thấy</a:t>
            </a:r>
            <a:r>
              <a:rPr lang="vi-VN" sz="1200" dirty="0"/>
              <a:t> </a:t>
            </a:r>
            <a:r>
              <a:rPr lang="vi-VN" sz="1200" dirty="0" err="1"/>
              <a:t>phần</a:t>
            </a:r>
            <a:r>
              <a:rPr lang="vi-VN" sz="1200" dirty="0"/>
              <a:t> </a:t>
            </a:r>
            <a:r>
              <a:rPr lang="vi-VN" sz="1200" dirty="0" err="1"/>
              <a:t>lớn</a:t>
            </a:r>
            <a:r>
              <a:rPr lang="vi-VN" sz="1200" dirty="0"/>
              <a:t> </a:t>
            </a:r>
            <a:r>
              <a:rPr lang="vi-VN" sz="1200" dirty="0" err="1"/>
              <a:t>người</a:t>
            </a:r>
            <a:r>
              <a:rPr lang="vi-VN" sz="1200" dirty="0"/>
              <a:t> </a:t>
            </a:r>
            <a:r>
              <a:rPr lang="vi-VN" sz="1200" dirty="0" err="1"/>
              <a:t>dùng</a:t>
            </a:r>
            <a:r>
              <a:rPr lang="vi-VN" sz="1200" dirty="0"/>
              <a:t> </a:t>
            </a:r>
            <a:r>
              <a:rPr lang="vi-VN" sz="1200" dirty="0" err="1"/>
              <a:t>đánh</a:t>
            </a:r>
            <a:r>
              <a:rPr lang="vi-VN" sz="1200" dirty="0"/>
              <a:t> </a:t>
            </a:r>
            <a:r>
              <a:rPr lang="vi-VN" sz="1200" dirty="0" err="1"/>
              <a:t>giá</a:t>
            </a:r>
            <a:r>
              <a:rPr lang="vi-VN" sz="1200" dirty="0"/>
              <a:t> </a:t>
            </a:r>
            <a:r>
              <a:rPr lang="vi-VN" sz="1200" dirty="0" err="1"/>
              <a:t>rất</a:t>
            </a:r>
            <a:r>
              <a:rPr lang="vi-VN" sz="1200" dirty="0"/>
              <a:t> cao </a:t>
            </a:r>
            <a:r>
              <a:rPr lang="vi-VN" sz="1200" dirty="0" err="1"/>
              <a:t>khả</a:t>
            </a:r>
            <a:r>
              <a:rPr lang="vi-VN" sz="1200" dirty="0"/>
              <a:t> năng </a:t>
            </a:r>
            <a:r>
              <a:rPr lang="vi-VN" sz="1200" dirty="0" err="1"/>
              <a:t>hiển</a:t>
            </a:r>
            <a:r>
              <a:rPr lang="vi-VN" sz="1200" dirty="0"/>
              <a:t> </a:t>
            </a:r>
            <a:r>
              <a:rPr lang="vi-VN" sz="1200" dirty="0" err="1"/>
              <a:t>thị</a:t>
            </a:r>
            <a:r>
              <a:rPr lang="vi-VN" sz="1200" dirty="0"/>
              <a:t> </a:t>
            </a:r>
            <a:r>
              <a:rPr lang="vi-VN" sz="1200" dirty="0" err="1"/>
              <a:t>giá</a:t>
            </a:r>
            <a:r>
              <a:rPr lang="vi-VN" sz="1200" dirty="0"/>
              <a:t> </a:t>
            </a:r>
            <a:r>
              <a:rPr lang="vi-VN" sz="1200" dirty="0" err="1"/>
              <a:t>cước</a:t>
            </a:r>
            <a:r>
              <a:rPr lang="vi-VN" sz="1200" dirty="0"/>
              <a:t> minh </a:t>
            </a:r>
            <a:r>
              <a:rPr lang="vi-VN" sz="1200" dirty="0" err="1"/>
              <a:t>bạch</a:t>
            </a:r>
            <a:r>
              <a:rPr lang="vi-VN" sz="1200" dirty="0"/>
              <a:t>, ETA </a:t>
            </a:r>
            <a:r>
              <a:rPr lang="vi-VN" sz="1200" dirty="0" err="1"/>
              <a:t>chính</a:t>
            </a:r>
            <a:r>
              <a:rPr lang="vi-VN" sz="1200" dirty="0"/>
              <a:t> </a:t>
            </a:r>
            <a:r>
              <a:rPr lang="vi-VN" sz="1200" dirty="0" err="1"/>
              <a:t>xác</a:t>
            </a:r>
            <a:r>
              <a:rPr lang="vi-VN" sz="1200" dirty="0"/>
              <a:t> </a:t>
            </a:r>
            <a:r>
              <a:rPr lang="vi-VN" sz="1200" dirty="0" err="1"/>
              <a:t>và</a:t>
            </a:r>
            <a:r>
              <a:rPr lang="vi-VN" sz="1200" dirty="0"/>
              <a:t> theo </a:t>
            </a:r>
            <a:r>
              <a:rPr lang="vi-VN" sz="1200" dirty="0" err="1"/>
              <a:t>dõi</a:t>
            </a:r>
            <a:r>
              <a:rPr lang="vi-VN" sz="1200" dirty="0"/>
              <a:t> </a:t>
            </a:r>
            <a:r>
              <a:rPr lang="vi-VN" sz="1200" dirty="0" err="1"/>
              <a:t>tài</a:t>
            </a:r>
            <a:r>
              <a:rPr lang="vi-VN" sz="1200" dirty="0"/>
              <a:t> </a:t>
            </a:r>
            <a:r>
              <a:rPr lang="vi-VN" sz="1200" dirty="0" err="1"/>
              <a:t>xế</a:t>
            </a:r>
            <a:r>
              <a:rPr lang="vi-VN" sz="1200" dirty="0"/>
              <a:t> </a:t>
            </a:r>
            <a:r>
              <a:rPr lang="vi-VN" sz="1200" dirty="0" err="1"/>
              <a:t>realtime</a:t>
            </a:r>
            <a:r>
              <a:rPr lang="vi-VN" sz="1200" dirty="0"/>
              <a:t>.</a:t>
            </a:r>
          </a:p>
          <a:p>
            <a:pPr marL="0" indent="0">
              <a:spcAft>
                <a:spcPts val="1000"/>
              </a:spcAft>
              <a:buNone/>
              <a:defRPr sz="1900">
                <a:solidFill>
                  <a:srgbClr val="1E293B"/>
                </a:solidFill>
              </a:defRPr>
            </a:pPr>
            <a:r>
              <a:rPr lang="vi-VN" sz="1200" dirty="0"/>
              <a:t>• </a:t>
            </a:r>
            <a:r>
              <a:rPr lang="vi-VN" sz="1200" dirty="0" err="1"/>
              <a:t>Yếu</a:t>
            </a:r>
            <a:r>
              <a:rPr lang="vi-VN" sz="1200" dirty="0"/>
              <a:t> </a:t>
            </a:r>
            <a:r>
              <a:rPr lang="vi-VN" sz="1200" dirty="0" err="1"/>
              <a:t>tố</a:t>
            </a:r>
            <a:r>
              <a:rPr lang="vi-VN" sz="1200" dirty="0"/>
              <a:t> an </a:t>
            </a:r>
            <a:r>
              <a:rPr lang="vi-VN" sz="1200" dirty="0" err="1"/>
              <a:t>toàn</a:t>
            </a:r>
            <a:r>
              <a:rPr lang="vi-VN" sz="1200" dirty="0"/>
              <a:t>, </a:t>
            </a:r>
            <a:r>
              <a:rPr lang="vi-VN" sz="1200" dirty="0" err="1"/>
              <a:t>tốc</a:t>
            </a:r>
            <a:r>
              <a:rPr lang="vi-VN" sz="1200" dirty="0"/>
              <a:t> </a:t>
            </a:r>
            <a:r>
              <a:rPr lang="vi-VN" sz="1200" dirty="0" err="1"/>
              <a:t>độ</a:t>
            </a:r>
            <a:r>
              <a:rPr lang="vi-VN" sz="1200" dirty="0"/>
              <a:t> </a:t>
            </a:r>
            <a:r>
              <a:rPr lang="vi-VN" sz="1200" dirty="0" err="1"/>
              <a:t>matching</a:t>
            </a:r>
            <a:r>
              <a:rPr lang="vi-VN" sz="1200" dirty="0"/>
              <a:t> </a:t>
            </a:r>
            <a:r>
              <a:rPr lang="vi-VN" sz="1200" dirty="0" err="1"/>
              <a:t>tài</a:t>
            </a:r>
            <a:r>
              <a:rPr lang="vi-VN" sz="1200" dirty="0"/>
              <a:t> </a:t>
            </a:r>
            <a:r>
              <a:rPr lang="vi-VN" sz="1200" dirty="0" err="1"/>
              <a:t>xế</a:t>
            </a:r>
            <a:r>
              <a:rPr lang="vi-VN" sz="1200" dirty="0"/>
              <a:t> </a:t>
            </a:r>
            <a:r>
              <a:rPr lang="vi-VN" sz="1200" dirty="0" err="1"/>
              <a:t>và</a:t>
            </a:r>
            <a:r>
              <a:rPr lang="vi-VN" sz="1200" dirty="0"/>
              <a:t> </a:t>
            </a:r>
            <a:r>
              <a:rPr lang="vi-VN" sz="1200" dirty="0" err="1"/>
              <a:t>ổn</a:t>
            </a:r>
            <a:r>
              <a:rPr lang="vi-VN" sz="1200" dirty="0"/>
              <a:t> </a:t>
            </a:r>
            <a:r>
              <a:rPr lang="vi-VN" sz="1200" dirty="0" err="1"/>
              <a:t>định</a:t>
            </a:r>
            <a:r>
              <a:rPr lang="vi-VN" sz="1200" dirty="0"/>
              <a:t> thanh </a:t>
            </a:r>
            <a:r>
              <a:rPr lang="vi-VN" sz="1200" dirty="0" err="1"/>
              <a:t>toán</a:t>
            </a:r>
            <a:r>
              <a:rPr lang="vi-VN" sz="1200" dirty="0"/>
              <a:t> </a:t>
            </a:r>
            <a:r>
              <a:rPr lang="vi-VN" sz="1200" dirty="0" err="1"/>
              <a:t>là</a:t>
            </a:r>
            <a:r>
              <a:rPr lang="vi-VN" sz="1200" dirty="0"/>
              <a:t> </a:t>
            </a:r>
            <a:r>
              <a:rPr lang="vi-VN" sz="1200" dirty="0" err="1"/>
              <a:t>những</a:t>
            </a:r>
            <a:r>
              <a:rPr lang="vi-VN" sz="1200" dirty="0"/>
              <a:t> tiêu </a:t>
            </a:r>
            <a:r>
              <a:rPr lang="vi-VN" sz="1200" dirty="0" err="1"/>
              <a:t>chí</a:t>
            </a:r>
            <a:r>
              <a:rPr lang="vi-VN" sz="1200" dirty="0"/>
              <a:t> </a:t>
            </a:r>
            <a:r>
              <a:rPr lang="vi-VN" sz="1200" dirty="0" err="1"/>
              <a:t>được</a:t>
            </a:r>
            <a:r>
              <a:rPr lang="vi-VN" sz="1200" dirty="0"/>
              <a:t> </a:t>
            </a:r>
            <a:r>
              <a:rPr lang="vi-VN" sz="1200" dirty="0" err="1"/>
              <a:t>người</a:t>
            </a:r>
            <a:r>
              <a:rPr lang="vi-VN" sz="1200" dirty="0"/>
              <a:t> </a:t>
            </a:r>
            <a:r>
              <a:rPr lang="vi-VN" sz="1200" dirty="0" err="1"/>
              <a:t>dùng</a:t>
            </a:r>
            <a:r>
              <a:rPr lang="vi-VN" sz="1200" dirty="0"/>
              <a:t> ưu tiên </a:t>
            </a:r>
            <a:r>
              <a:rPr lang="vi-VN" sz="1200" dirty="0" err="1"/>
              <a:t>hàng</a:t>
            </a:r>
            <a:r>
              <a:rPr lang="vi-VN" sz="1200" dirty="0"/>
              <a:t> </a:t>
            </a:r>
            <a:r>
              <a:rPr lang="vi-VN" sz="1200" dirty="0" err="1"/>
              <a:t>đầu</a:t>
            </a:r>
            <a:r>
              <a:rPr lang="vi-VN" sz="1200" dirty="0"/>
              <a:t>.</a:t>
            </a:r>
          </a:p>
          <a:p>
            <a:pPr marL="0" indent="0">
              <a:spcAft>
                <a:spcPts val="1000"/>
              </a:spcAft>
              <a:buNone/>
              <a:defRPr sz="1900">
                <a:solidFill>
                  <a:srgbClr val="1E293B"/>
                </a:solidFill>
              </a:defRPr>
            </a:pPr>
            <a:r>
              <a:rPr lang="vi-VN" sz="1200" dirty="0"/>
              <a:t>• </a:t>
            </a:r>
            <a:r>
              <a:rPr lang="vi-VN" sz="1200" dirty="0" err="1"/>
              <a:t>Ngoài</a:t>
            </a:r>
            <a:r>
              <a:rPr lang="vi-VN" sz="1200" dirty="0"/>
              <a:t> ra, </a:t>
            </a:r>
            <a:r>
              <a:rPr lang="vi-VN" sz="1200" dirty="0" err="1"/>
              <a:t>người</a:t>
            </a:r>
            <a:r>
              <a:rPr lang="vi-VN" sz="1200" dirty="0"/>
              <a:t> </a:t>
            </a:r>
            <a:r>
              <a:rPr lang="vi-VN" sz="1200" dirty="0" err="1"/>
              <a:t>dùng</a:t>
            </a:r>
            <a:r>
              <a:rPr lang="vi-VN" sz="1200" dirty="0"/>
              <a:t> </a:t>
            </a:r>
            <a:r>
              <a:rPr lang="vi-VN" sz="1200" dirty="0" err="1"/>
              <a:t>cũng</a:t>
            </a:r>
            <a:r>
              <a:rPr lang="vi-VN" sz="1200" dirty="0"/>
              <a:t> mong </a:t>
            </a:r>
            <a:r>
              <a:rPr lang="vi-VN" sz="1200" dirty="0" err="1"/>
              <a:t>muốn</a:t>
            </a:r>
            <a:r>
              <a:rPr lang="vi-VN" sz="1200" dirty="0"/>
              <a:t> </a:t>
            </a:r>
            <a:r>
              <a:rPr lang="vi-VN" sz="1200" dirty="0" err="1"/>
              <a:t>ứng</a:t>
            </a:r>
            <a:r>
              <a:rPr lang="vi-VN" sz="1200" dirty="0"/>
              <a:t> </a:t>
            </a:r>
            <a:r>
              <a:rPr lang="vi-VN" sz="1200" dirty="0" err="1"/>
              <a:t>dụng</a:t>
            </a:r>
            <a:r>
              <a:rPr lang="vi-VN" sz="1200" dirty="0"/>
              <a:t> trong tương lai </a:t>
            </a:r>
            <a:r>
              <a:rPr lang="vi-VN" sz="1200" dirty="0" err="1"/>
              <a:t>tích</a:t>
            </a:r>
            <a:r>
              <a:rPr lang="vi-VN" sz="1200" dirty="0"/>
              <a:t> </a:t>
            </a:r>
            <a:r>
              <a:rPr lang="vi-VN" sz="1200" dirty="0" err="1"/>
              <a:t>hợp</a:t>
            </a:r>
            <a:r>
              <a:rPr lang="vi-VN" sz="1200" dirty="0"/>
              <a:t> AI </a:t>
            </a:r>
            <a:r>
              <a:rPr lang="vi-VN" sz="1200" dirty="0" err="1"/>
              <a:t>hỗ</a:t>
            </a:r>
            <a:r>
              <a:rPr lang="vi-VN" sz="1200" dirty="0"/>
              <a:t> </a:t>
            </a:r>
            <a:r>
              <a:rPr lang="vi-VN" sz="1200" dirty="0" err="1"/>
              <a:t>trợ</a:t>
            </a:r>
            <a:r>
              <a:rPr lang="vi-VN" sz="1200" dirty="0"/>
              <a:t> </a:t>
            </a:r>
            <a:r>
              <a:rPr lang="vi-VN" sz="1200" dirty="0" err="1"/>
              <a:t>dự</a:t>
            </a:r>
            <a:r>
              <a:rPr lang="vi-VN" sz="1200" dirty="0"/>
              <a:t> </a:t>
            </a:r>
            <a:r>
              <a:rPr lang="vi-VN" sz="1200" dirty="0" err="1"/>
              <a:t>đoán</a:t>
            </a:r>
            <a:r>
              <a:rPr lang="vi-VN" sz="1200" dirty="0"/>
              <a:t> </a:t>
            </a:r>
            <a:r>
              <a:rPr lang="vi-VN" sz="1200" dirty="0" err="1"/>
              <a:t>giá</a:t>
            </a:r>
            <a:r>
              <a:rPr lang="vi-VN" sz="1200" dirty="0"/>
              <a:t>, </a:t>
            </a:r>
            <a:r>
              <a:rPr lang="vi-VN" sz="1200" dirty="0" err="1"/>
              <a:t>hỗ</a:t>
            </a:r>
            <a:r>
              <a:rPr lang="vi-VN" sz="1200" dirty="0"/>
              <a:t> </a:t>
            </a:r>
            <a:r>
              <a:rPr lang="vi-VN" sz="1200" dirty="0" err="1"/>
              <a:t>trợ</a:t>
            </a:r>
            <a:r>
              <a:rPr lang="vi-VN" sz="1200" dirty="0"/>
              <a:t> </a:t>
            </a:r>
            <a:r>
              <a:rPr lang="vi-VN" sz="1200" dirty="0" err="1"/>
              <a:t>chatbot</a:t>
            </a:r>
            <a:r>
              <a:rPr lang="vi-VN" sz="1200" dirty="0"/>
              <a:t> </a:t>
            </a:r>
            <a:r>
              <a:rPr lang="vi-VN" sz="1200" dirty="0" err="1"/>
              <a:t>và</a:t>
            </a:r>
            <a:r>
              <a:rPr lang="vi-VN" sz="1200" dirty="0"/>
              <a:t> </a:t>
            </a:r>
            <a:r>
              <a:rPr lang="vi-VN" sz="1200" dirty="0" err="1"/>
              <a:t>cá</a:t>
            </a:r>
            <a:r>
              <a:rPr lang="vi-VN" sz="1200" dirty="0"/>
              <a:t> nhân </a:t>
            </a:r>
            <a:r>
              <a:rPr lang="vi-VN" sz="1200" dirty="0" err="1"/>
              <a:t>hóa</a:t>
            </a:r>
            <a:r>
              <a:rPr lang="vi-VN" sz="1200" dirty="0"/>
              <a:t> </a:t>
            </a:r>
            <a:r>
              <a:rPr lang="vi-VN" sz="1200" dirty="0" err="1"/>
              <a:t>trải</a:t>
            </a:r>
            <a:r>
              <a:rPr lang="vi-VN" sz="1200" dirty="0"/>
              <a:t> </a:t>
            </a:r>
            <a:r>
              <a:rPr lang="vi-VN" sz="1200" dirty="0" err="1"/>
              <a:t>nghiệm</a:t>
            </a:r>
            <a:r>
              <a:rPr lang="vi-VN" sz="1200" dirty="0"/>
              <a:t>.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  <a:defRPr sz="1900">
                <a:solidFill>
                  <a:srgbClr val="1E293B"/>
                </a:solidFill>
              </a:defRPr>
            </a:pPr>
            <a:endParaRPr lang="en-US" sz="1200" dirty="0"/>
          </a:p>
          <a:p>
            <a:pPr marL="0" indent="0">
              <a:spcAft>
                <a:spcPts val="1000"/>
              </a:spcAft>
              <a:buNone/>
              <a:defRPr sz="1900">
                <a:solidFill>
                  <a:srgbClr val="1E293B"/>
                </a:solidFill>
              </a:defRPr>
            </a:pPr>
            <a:endParaRPr lang="vi-VN" sz="1200" dirty="0"/>
          </a:p>
        </p:txBody>
      </p:sp>
      <p:pic>
        <p:nvPicPr>
          <p:cNvPr id="4" name="image43.png">
            <a:extLst>
              <a:ext uri="{FF2B5EF4-FFF2-40B4-BE49-F238E27FC236}">
                <a16:creationId xmlns:a16="http://schemas.microsoft.com/office/drawing/2014/main" id="{92D78E9C-2C1F-4F6D-943C-9709ADE3F63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783977" y="906649"/>
            <a:ext cx="5381886" cy="295714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12868"/>
          </a:xfrm>
        </p:spPr>
        <p:txBody>
          <a:bodyPr wrap="square"/>
          <a:lstStyle/>
          <a:p>
            <a:pPr>
              <a:defRPr sz="2000"/>
            </a:pP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6496" y="1515036"/>
            <a:ext cx="8319246" cy="4509248"/>
          </a:xfrm>
        </p:spPr>
        <p:txBody>
          <a:bodyPr wrap="square" lIns="45720" bIns="73152">
            <a:normAutofit/>
          </a:bodyPr>
          <a:lstStyle/>
          <a:p>
            <a:pPr marL="0" indent="0">
              <a:spcAft>
                <a:spcPts val="1000"/>
              </a:spcAft>
              <a:buNone/>
              <a:defRPr sz="1900">
                <a:solidFill>
                  <a:srgbClr val="1E293B"/>
                </a:solidFill>
              </a:defRPr>
            </a:pPr>
            <a:r>
              <a:rPr lang="vi-VN" sz="1200" dirty="0"/>
              <a:t>• </a:t>
            </a:r>
            <a:r>
              <a:rPr lang="vi-VN" sz="1200" dirty="0" err="1"/>
              <a:t>Hệ</a:t>
            </a:r>
            <a:r>
              <a:rPr lang="vi-VN" sz="1200" dirty="0"/>
              <a:t> </a:t>
            </a:r>
            <a:r>
              <a:rPr lang="vi-VN" sz="1200" dirty="0" err="1"/>
              <a:t>thống</a:t>
            </a:r>
            <a:r>
              <a:rPr lang="vi-VN" sz="1200" dirty="0"/>
              <a:t> </a:t>
            </a:r>
            <a:r>
              <a:rPr lang="vi-VN" sz="1200" dirty="0" err="1"/>
              <a:t>gọi</a:t>
            </a:r>
            <a:r>
              <a:rPr lang="vi-VN" sz="1200" dirty="0"/>
              <a:t> xe </a:t>
            </a:r>
            <a:r>
              <a:rPr lang="vi-VN" sz="1200" dirty="0" err="1"/>
              <a:t>phải</a:t>
            </a:r>
            <a:r>
              <a:rPr lang="vi-VN" sz="1200" dirty="0"/>
              <a:t> </a:t>
            </a:r>
            <a:r>
              <a:rPr lang="vi-VN" sz="1200" dirty="0" err="1"/>
              <a:t>xử</a:t>
            </a:r>
            <a:r>
              <a:rPr lang="vi-VN" sz="1200" dirty="0"/>
              <a:t> </a:t>
            </a:r>
            <a:r>
              <a:rPr lang="vi-VN" sz="1200" dirty="0" err="1"/>
              <a:t>lý</a:t>
            </a:r>
            <a:r>
              <a:rPr lang="vi-VN" sz="1200" dirty="0"/>
              <a:t> </a:t>
            </a:r>
            <a:r>
              <a:rPr lang="vi-VN" sz="1200" dirty="0" err="1"/>
              <a:t>đồng</a:t>
            </a:r>
            <a:r>
              <a:rPr lang="vi-VN" sz="1200" dirty="0"/>
              <a:t> </a:t>
            </a:r>
            <a:r>
              <a:rPr lang="vi-VN" sz="1200" dirty="0" err="1"/>
              <a:t>thời</a:t>
            </a:r>
            <a:r>
              <a:rPr lang="vi-VN" sz="1200" dirty="0"/>
              <a:t> </a:t>
            </a:r>
            <a:r>
              <a:rPr lang="vi-VN" sz="1200" dirty="0" err="1"/>
              <a:t>nhiều</a:t>
            </a:r>
            <a:r>
              <a:rPr lang="vi-VN" sz="1200" dirty="0"/>
              <a:t> yêu </a:t>
            </a:r>
            <a:r>
              <a:rPr lang="vi-VN" sz="1200" dirty="0" err="1"/>
              <a:t>cầu</a:t>
            </a:r>
            <a:r>
              <a:rPr lang="vi-VN" sz="1200" dirty="0"/>
              <a:t> </a:t>
            </a:r>
            <a:r>
              <a:rPr lang="vi-VN" sz="1200" dirty="0" err="1"/>
              <a:t>đặt</a:t>
            </a:r>
            <a:r>
              <a:rPr lang="vi-VN" sz="1200" dirty="0"/>
              <a:t> xe trong </a:t>
            </a:r>
            <a:r>
              <a:rPr lang="vi-VN" sz="1200" dirty="0" err="1"/>
              <a:t>thời</a:t>
            </a:r>
            <a:r>
              <a:rPr lang="vi-VN" sz="1200" dirty="0"/>
              <a:t> gian </a:t>
            </a:r>
            <a:r>
              <a:rPr lang="vi-VN" sz="1200" dirty="0" err="1"/>
              <a:t>thực</a:t>
            </a:r>
            <a:r>
              <a:rPr lang="vi-VN" sz="1200" dirty="0"/>
              <a:t> </a:t>
            </a:r>
            <a:r>
              <a:rPr lang="vi-VN" sz="1200" dirty="0" err="1"/>
              <a:t>với</a:t>
            </a:r>
            <a:r>
              <a:rPr lang="vi-VN" sz="1200" dirty="0"/>
              <a:t> </a:t>
            </a:r>
            <a:r>
              <a:rPr lang="vi-VN" sz="1200" dirty="0" err="1"/>
              <a:t>độ</a:t>
            </a:r>
            <a:r>
              <a:rPr lang="vi-VN" sz="1200" dirty="0"/>
              <a:t> </a:t>
            </a:r>
            <a:r>
              <a:rPr lang="vi-VN" sz="1200" dirty="0" err="1"/>
              <a:t>trễ</a:t>
            </a:r>
            <a:r>
              <a:rPr lang="vi-VN" sz="1200" dirty="0"/>
              <a:t> </a:t>
            </a:r>
            <a:r>
              <a:rPr lang="vi-VN" sz="1200" dirty="0" err="1"/>
              <a:t>thấp</a:t>
            </a:r>
            <a:r>
              <a:rPr lang="vi-VN" sz="1200" dirty="0"/>
              <a:t>.</a:t>
            </a:r>
          </a:p>
          <a:p>
            <a:pPr marL="0" indent="0">
              <a:spcAft>
                <a:spcPts val="1000"/>
              </a:spcAft>
              <a:buNone/>
              <a:defRPr sz="1900">
                <a:solidFill>
                  <a:srgbClr val="1E293B"/>
                </a:solidFill>
              </a:defRPr>
            </a:pPr>
            <a:r>
              <a:rPr lang="vi-VN" sz="1200" dirty="0"/>
              <a:t>• </a:t>
            </a:r>
            <a:r>
              <a:rPr lang="vi-VN" sz="1200" dirty="0" err="1"/>
              <a:t>Việc</a:t>
            </a:r>
            <a:r>
              <a:rPr lang="vi-VN" sz="1200" dirty="0"/>
              <a:t> </a:t>
            </a:r>
            <a:r>
              <a:rPr lang="vi-VN" sz="1200" dirty="0" err="1"/>
              <a:t>matching</a:t>
            </a:r>
            <a:r>
              <a:rPr lang="vi-VN" sz="1200" dirty="0"/>
              <a:t> </a:t>
            </a:r>
            <a:r>
              <a:rPr lang="vi-VN" sz="1200" dirty="0" err="1"/>
              <a:t>tài</a:t>
            </a:r>
            <a:r>
              <a:rPr lang="vi-VN" sz="1200" dirty="0"/>
              <a:t> </a:t>
            </a:r>
            <a:r>
              <a:rPr lang="vi-VN" sz="1200" dirty="0" err="1"/>
              <a:t>xế</a:t>
            </a:r>
            <a:r>
              <a:rPr lang="vi-VN" sz="1200" dirty="0"/>
              <a:t> </a:t>
            </a:r>
            <a:r>
              <a:rPr lang="vi-VN" sz="1200" dirty="0" err="1"/>
              <a:t>cần</a:t>
            </a:r>
            <a:r>
              <a:rPr lang="vi-VN" sz="1200" dirty="0"/>
              <a:t> </a:t>
            </a:r>
            <a:r>
              <a:rPr lang="vi-VN" sz="1200" dirty="0" err="1"/>
              <a:t>đảm</a:t>
            </a:r>
            <a:r>
              <a:rPr lang="vi-VN" sz="1200" dirty="0"/>
              <a:t> </a:t>
            </a:r>
            <a:r>
              <a:rPr lang="vi-VN" sz="1200" dirty="0" err="1"/>
              <a:t>bảo</a:t>
            </a:r>
            <a:r>
              <a:rPr lang="vi-VN" sz="1200" dirty="0"/>
              <a:t> </a:t>
            </a:r>
            <a:r>
              <a:rPr lang="vi-VN" sz="1200" dirty="0" err="1"/>
              <a:t>yếu</a:t>
            </a:r>
            <a:r>
              <a:rPr lang="vi-VN" sz="1200" dirty="0"/>
              <a:t> </a:t>
            </a:r>
            <a:r>
              <a:rPr lang="vi-VN" sz="1200" dirty="0" err="1"/>
              <a:t>tố</a:t>
            </a:r>
            <a:r>
              <a:rPr lang="vi-VN" sz="1200" dirty="0"/>
              <a:t> </a:t>
            </a:r>
            <a:r>
              <a:rPr lang="vi-VN" sz="1200" dirty="0" err="1"/>
              <a:t>khoảng</a:t>
            </a:r>
            <a:r>
              <a:rPr lang="vi-VN" sz="1200" dirty="0"/>
              <a:t> </a:t>
            </a:r>
            <a:r>
              <a:rPr lang="vi-VN" sz="1200" dirty="0" err="1"/>
              <a:t>cách</a:t>
            </a:r>
            <a:r>
              <a:rPr lang="vi-VN" sz="1200" dirty="0"/>
              <a:t>, </a:t>
            </a:r>
            <a:r>
              <a:rPr lang="vi-VN" sz="1200" dirty="0" err="1"/>
              <a:t>tỷ</a:t>
            </a:r>
            <a:r>
              <a:rPr lang="vi-VN" sz="1200" dirty="0"/>
              <a:t> </a:t>
            </a:r>
            <a:r>
              <a:rPr lang="vi-VN" sz="1200" dirty="0" err="1"/>
              <a:t>lệ</a:t>
            </a:r>
            <a:r>
              <a:rPr lang="vi-VN" sz="1200" dirty="0"/>
              <a:t> </a:t>
            </a:r>
            <a:r>
              <a:rPr lang="vi-VN" sz="1200" dirty="0" err="1"/>
              <a:t>chấp</a:t>
            </a:r>
            <a:r>
              <a:rPr lang="vi-VN" sz="1200" dirty="0"/>
              <a:t> </a:t>
            </a:r>
            <a:r>
              <a:rPr lang="vi-VN" sz="1200" dirty="0" err="1"/>
              <a:t>nhận</a:t>
            </a:r>
            <a:r>
              <a:rPr lang="vi-VN" sz="1200" dirty="0"/>
              <a:t> </a:t>
            </a:r>
            <a:r>
              <a:rPr lang="vi-VN" sz="1200" dirty="0" err="1"/>
              <a:t>chuyến</a:t>
            </a:r>
            <a:r>
              <a:rPr lang="vi-VN" sz="1200" dirty="0"/>
              <a:t> </a:t>
            </a:r>
            <a:r>
              <a:rPr lang="vi-VN" sz="1200" dirty="0" err="1"/>
              <a:t>và</a:t>
            </a:r>
            <a:r>
              <a:rPr lang="vi-VN" sz="1200" dirty="0"/>
              <a:t> </a:t>
            </a:r>
            <a:r>
              <a:rPr lang="vi-VN" sz="1200" dirty="0" err="1"/>
              <a:t>trạng</a:t>
            </a:r>
            <a:r>
              <a:rPr lang="vi-VN" sz="1200" dirty="0"/>
              <a:t> </a:t>
            </a:r>
            <a:r>
              <a:rPr lang="vi-VN" sz="1200" dirty="0" err="1"/>
              <a:t>thái</a:t>
            </a:r>
            <a:r>
              <a:rPr lang="vi-VN" sz="1200" dirty="0"/>
              <a:t> </a:t>
            </a:r>
            <a:r>
              <a:rPr lang="vi-VN" sz="1200" dirty="0" err="1"/>
              <a:t>hoạt</a:t>
            </a:r>
            <a:r>
              <a:rPr lang="vi-VN" sz="1200" dirty="0"/>
              <a:t> </a:t>
            </a:r>
            <a:r>
              <a:rPr lang="vi-VN" sz="1200" dirty="0" err="1"/>
              <a:t>động</a:t>
            </a:r>
            <a:r>
              <a:rPr lang="vi-VN" sz="1200" dirty="0"/>
              <a:t> </a:t>
            </a:r>
            <a:r>
              <a:rPr lang="vi-VN" sz="1200" dirty="0" err="1"/>
              <a:t>của</a:t>
            </a:r>
            <a:r>
              <a:rPr lang="vi-VN" sz="1200" dirty="0"/>
              <a:t> </a:t>
            </a:r>
            <a:r>
              <a:rPr lang="vi-VN" sz="1200" dirty="0" err="1"/>
              <a:t>tài</a:t>
            </a:r>
            <a:r>
              <a:rPr lang="vi-VN" sz="1200" dirty="0"/>
              <a:t> </a:t>
            </a:r>
            <a:r>
              <a:rPr lang="vi-VN" sz="1200" dirty="0" err="1"/>
              <a:t>xế</a:t>
            </a:r>
            <a:r>
              <a:rPr lang="vi-VN" sz="1200" dirty="0"/>
              <a:t>.</a:t>
            </a:r>
          </a:p>
          <a:p>
            <a:pPr marL="0" indent="0">
              <a:spcAft>
                <a:spcPts val="1000"/>
              </a:spcAft>
              <a:buNone/>
              <a:defRPr sz="1900">
                <a:solidFill>
                  <a:srgbClr val="1E293B"/>
                </a:solidFill>
              </a:defRPr>
            </a:pPr>
            <a:r>
              <a:rPr lang="vi-VN" sz="1200" dirty="0"/>
              <a:t>• </a:t>
            </a:r>
            <a:r>
              <a:rPr lang="vi-VN" sz="1200" dirty="0" err="1"/>
              <a:t>Hệ</a:t>
            </a:r>
            <a:r>
              <a:rPr lang="vi-VN" sz="1200" dirty="0"/>
              <a:t> </a:t>
            </a:r>
            <a:r>
              <a:rPr lang="vi-VN" sz="1200" dirty="0" err="1"/>
              <a:t>thống</a:t>
            </a:r>
            <a:r>
              <a:rPr lang="vi-VN" sz="1200" dirty="0"/>
              <a:t> thanh </a:t>
            </a:r>
            <a:r>
              <a:rPr lang="vi-VN" sz="1200" dirty="0" err="1"/>
              <a:t>toán</a:t>
            </a:r>
            <a:r>
              <a:rPr lang="vi-VN" sz="1200" dirty="0"/>
              <a:t> </a:t>
            </a:r>
            <a:r>
              <a:rPr lang="vi-VN" sz="1200" dirty="0" err="1"/>
              <a:t>cần</a:t>
            </a:r>
            <a:r>
              <a:rPr lang="vi-VN" sz="1200" dirty="0"/>
              <a:t> </a:t>
            </a:r>
            <a:r>
              <a:rPr lang="vi-VN" sz="1200" dirty="0" err="1"/>
              <a:t>đảm</a:t>
            </a:r>
            <a:r>
              <a:rPr lang="vi-VN" sz="1200" dirty="0"/>
              <a:t> </a:t>
            </a:r>
            <a:r>
              <a:rPr lang="vi-VN" sz="1200" dirty="0" err="1"/>
              <a:t>bảo</a:t>
            </a:r>
            <a:r>
              <a:rPr lang="vi-VN" sz="1200" dirty="0"/>
              <a:t> </a:t>
            </a:r>
            <a:r>
              <a:rPr lang="vi-VN" sz="1200" dirty="0" err="1"/>
              <a:t>tính</a:t>
            </a:r>
            <a:r>
              <a:rPr lang="vi-VN" sz="1200" dirty="0"/>
              <a:t> </a:t>
            </a:r>
            <a:r>
              <a:rPr lang="vi-VN" sz="1200" dirty="0" err="1"/>
              <a:t>nhất</a:t>
            </a:r>
            <a:r>
              <a:rPr lang="vi-VN" sz="1200" dirty="0"/>
              <a:t> </a:t>
            </a:r>
            <a:r>
              <a:rPr lang="vi-VN" sz="1200" dirty="0" err="1"/>
              <a:t>quán</a:t>
            </a:r>
            <a:r>
              <a:rPr lang="vi-VN" sz="1200" dirty="0"/>
              <a:t> </a:t>
            </a:r>
            <a:r>
              <a:rPr lang="vi-VN" sz="1200" dirty="0" err="1"/>
              <a:t>dữ</a:t>
            </a:r>
            <a:r>
              <a:rPr lang="vi-VN" sz="1200" dirty="0"/>
              <a:t> </a:t>
            </a:r>
            <a:r>
              <a:rPr lang="vi-VN" sz="1200" dirty="0" err="1"/>
              <a:t>liệu</a:t>
            </a:r>
            <a:r>
              <a:rPr lang="vi-VN" sz="1200" dirty="0"/>
              <a:t> </a:t>
            </a:r>
            <a:r>
              <a:rPr lang="vi-VN" sz="1200" dirty="0" err="1"/>
              <a:t>và</a:t>
            </a:r>
            <a:r>
              <a:rPr lang="vi-VN" sz="1200" dirty="0"/>
              <a:t> </a:t>
            </a:r>
            <a:r>
              <a:rPr lang="vi-VN" sz="1200" dirty="0" err="1"/>
              <a:t>chống</a:t>
            </a:r>
            <a:r>
              <a:rPr lang="vi-VN" sz="1200" dirty="0"/>
              <a:t> </a:t>
            </a:r>
            <a:r>
              <a:rPr lang="vi-VN" sz="1200" dirty="0" err="1"/>
              <a:t>trùng</a:t>
            </a:r>
            <a:r>
              <a:rPr lang="vi-VN" sz="1200" dirty="0"/>
              <a:t> </a:t>
            </a:r>
            <a:r>
              <a:rPr lang="vi-VN" sz="1200" dirty="0" err="1"/>
              <a:t>lặp</a:t>
            </a:r>
            <a:r>
              <a:rPr lang="vi-VN" sz="1200" dirty="0"/>
              <a:t> giao </a:t>
            </a:r>
            <a:r>
              <a:rPr lang="vi-VN" sz="1200" dirty="0" err="1"/>
              <a:t>dịch</a:t>
            </a:r>
            <a:r>
              <a:rPr lang="vi-VN" sz="1200" dirty="0"/>
              <a:t>.</a:t>
            </a:r>
          </a:p>
          <a:p>
            <a:pPr marL="0" indent="0">
              <a:spcAft>
                <a:spcPts val="1000"/>
              </a:spcAft>
              <a:buNone/>
              <a:defRPr sz="1900">
                <a:solidFill>
                  <a:srgbClr val="1E293B"/>
                </a:solidFill>
              </a:defRPr>
            </a:pPr>
            <a:r>
              <a:rPr lang="vi-VN" sz="1200" dirty="0"/>
              <a:t>• </a:t>
            </a:r>
            <a:r>
              <a:rPr lang="vi-VN" sz="1200" dirty="0" err="1"/>
              <a:t>Ngoài</a:t>
            </a:r>
            <a:r>
              <a:rPr lang="vi-VN" sz="1200" dirty="0"/>
              <a:t> ra, </a:t>
            </a:r>
            <a:r>
              <a:rPr lang="vi-VN" sz="1200" dirty="0" err="1"/>
              <a:t>nền</a:t>
            </a:r>
            <a:r>
              <a:rPr lang="vi-VN" sz="1200" dirty="0"/>
              <a:t> </a:t>
            </a:r>
            <a:r>
              <a:rPr lang="vi-VN" sz="1200" dirty="0" err="1"/>
              <a:t>tảng</a:t>
            </a:r>
            <a:r>
              <a:rPr lang="vi-VN" sz="1200" dirty="0"/>
              <a:t> </a:t>
            </a:r>
            <a:r>
              <a:rPr lang="vi-VN" sz="1200" dirty="0" err="1"/>
              <a:t>còn</a:t>
            </a:r>
            <a:r>
              <a:rPr lang="vi-VN" sz="1200" dirty="0"/>
              <a:t> </a:t>
            </a:r>
            <a:r>
              <a:rPr lang="vi-VN" sz="1200" dirty="0" err="1"/>
              <a:t>cần</a:t>
            </a:r>
            <a:r>
              <a:rPr lang="vi-VN" sz="1200" dirty="0"/>
              <a:t> </a:t>
            </a:r>
            <a:r>
              <a:rPr lang="vi-VN" sz="1200" dirty="0" err="1"/>
              <a:t>monitoring</a:t>
            </a:r>
            <a:r>
              <a:rPr lang="vi-VN" sz="1200" dirty="0"/>
              <a:t>, </a:t>
            </a:r>
            <a:r>
              <a:rPr lang="vi-VN" sz="1200" dirty="0" err="1"/>
              <a:t>logging</a:t>
            </a:r>
            <a:r>
              <a:rPr lang="vi-VN" sz="1200" dirty="0"/>
              <a:t>, </a:t>
            </a:r>
            <a:r>
              <a:rPr lang="vi-VN" sz="1200" dirty="0" err="1"/>
              <a:t>fault</a:t>
            </a:r>
            <a:r>
              <a:rPr lang="vi-VN" sz="1200" dirty="0"/>
              <a:t> </a:t>
            </a:r>
            <a:r>
              <a:rPr lang="vi-VN" sz="1200" dirty="0" err="1"/>
              <a:t>tolerance</a:t>
            </a:r>
            <a:r>
              <a:rPr lang="vi-VN" sz="1200" dirty="0"/>
              <a:t> </a:t>
            </a:r>
            <a:r>
              <a:rPr lang="vi-VN" sz="1200" dirty="0" err="1"/>
              <a:t>và</a:t>
            </a:r>
            <a:r>
              <a:rPr lang="vi-VN" sz="1200" dirty="0"/>
              <a:t> </a:t>
            </a:r>
            <a:r>
              <a:rPr lang="vi-VN" sz="1200" dirty="0" err="1"/>
              <a:t>khả</a:t>
            </a:r>
            <a:r>
              <a:rPr lang="vi-VN" sz="1200" dirty="0"/>
              <a:t> năng </a:t>
            </a:r>
            <a:r>
              <a:rPr lang="vi-VN" sz="1200" dirty="0" err="1"/>
              <a:t>scale</a:t>
            </a:r>
            <a:r>
              <a:rPr lang="vi-VN" sz="1200" dirty="0"/>
              <a:t> ngang khi </a:t>
            </a:r>
            <a:r>
              <a:rPr lang="vi-VN" sz="1200" dirty="0" err="1"/>
              <a:t>lượng</a:t>
            </a:r>
            <a:r>
              <a:rPr lang="vi-VN" sz="1200" dirty="0"/>
              <a:t> </a:t>
            </a:r>
            <a:r>
              <a:rPr lang="vi-VN" sz="1200" dirty="0" err="1"/>
              <a:t>người</a:t>
            </a:r>
            <a:r>
              <a:rPr lang="vi-VN" sz="1200" dirty="0"/>
              <a:t> </a:t>
            </a:r>
            <a:r>
              <a:rPr lang="vi-VN" sz="1200" dirty="0" err="1"/>
              <a:t>dùng</a:t>
            </a:r>
            <a:r>
              <a:rPr lang="vi-VN" sz="1200" dirty="0"/>
              <a:t> tăng </a:t>
            </a:r>
            <a:r>
              <a:rPr lang="vi-VN" sz="1200" dirty="0" err="1"/>
              <a:t>mạnh</a:t>
            </a:r>
            <a:r>
              <a:rPr lang="vi-VN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5113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overview arch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7737CD-DFEC-42D5-BFD4-2832F3703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4943"/>
            <a:ext cx="9144000" cy="58223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uc journey roles en</a:t>
            </a:r>
          </a:p>
        </p:txBody>
      </p:sp>
      <p:pic>
        <p:nvPicPr>
          <p:cNvPr id="3" name="Picture 2" descr="uc_journey_role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53587"/>
            <a:ext cx="8321040" cy="35440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000"/>
            </a:pPr>
            <a:r>
              <a:t>3. Phân tích và thiết kế nghiệp vụ (DDD)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bIns="73152"/>
          <a:lstStyle/>
          <a:p>
            <a:pPr marL="0" indent="0">
              <a:spcAft>
                <a:spcPts val="300"/>
              </a:spcAft>
              <a:buNone/>
              <a:defRPr sz="1100"/>
            </a:pPr>
            <a:r>
              <a:rPr dirty="0" err="1"/>
              <a:t>Nên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vẽ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án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thuyết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diễn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ddd subdomain map</a:t>
            </a:r>
          </a:p>
        </p:txBody>
      </p:sp>
      <p:pic>
        <p:nvPicPr>
          <p:cNvPr id="3" name="Picture 2" descr="ddd_subdomai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90" y="804672"/>
            <a:ext cx="7537419" cy="56418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ddd bc service map</a:t>
            </a:r>
          </a:p>
        </p:txBody>
      </p:sp>
      <p:pic>
        <p:nvPicPr>
          <p:cNvPr id="3" name="Picture 2" descr="ddd_bc_servic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69681"/>
            <a:ext cx="8321040" cy="33118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erd core bounded contexts</a:t>
            </a:r>
          </a:p>
        </p:txBody>
      </p:sp>
      <p:pic>
        <p:nvPicPr>
          <p:cNvPr id="3" name="Picture 2" descr="erd_core_bounded_contex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462" y="804672"/>
            <a:ext cx="5659075" cy="56418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000"/>
            </a:pPr>
            <a:r>
              <a:t>4. Phân tích và thiết kế chức năng (Use case diagram)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bIns="73152"/>
          <a:lstStyle/>
          <a:p>
            <a:pPr marL="0" indent="0">
              <a:spcAft>
                <a:spcPts val="300"/>
              </a:spcAft>
              <a:buNone/>
              <a:defRPr sz="1100"/>
            </a:pPr>
            <a:r>
              <a:rPr dirty="0" err="1"/>
              <a:t>Nên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vẽ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án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thuyết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diễn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bpmn booking swimlanes</a:t>
            </a:r>
          </a:p>
        </p:txBody>
      </p:sp>
      <p:pic>
        <p:nvPicPr>
          <p:cNvPr id="3" name="Picture 2" descr="bpmn_booking_swimla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196" y="804672"/>
            <a:ext cx="3909607" cy="56418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uc journey roles en</a:t>
            </a:r>
          </a:p>
        </p:txBody>
      </p:sp>
      <p:pic>
        <p:nvPicPr>
          <p:cNvPr id="3" name="Picture 2" descr="uc_journey_role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53587"/>
            <a:ext cx="8321040" cy="35440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000"/>
            </a:pPr>
            <a:r>
              <a:t>5. Thiết kế kiến trúc hệ thống (SAD)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bIns="73152"/>
          <a:lstStyle/>
          <a:p>
            <a:pPr marL="0" indent="0">
              <a:spcAft>
                <a:spcPts val="300"/>
              </a:spcAft>
              <a:buNone/>
              <a:defRPr sz="1100"/>
            </a:pPr>
            <a:r>
              <a:rPr dirty="0" err="1"/>
              <a:t>Nên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vẽ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án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thuyết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diễn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arch layers services infra</a:t>
            </a:r>
          </a:p>
        </p:txBody>
      </p:sp>
      <p:pic>
        <p:nvPicPr>
          <p:cNvPr id="3" name="Picture 2" descr="arch_layers_services_inf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11472"/>
            <a:ext cx="8321040" cy="26282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arch ms port map</a:t>
            </a:r>
          </a:p>
        </p:txBody>
      </p:sp>
      <p:pic>
        <p:nvPicPr>
          <p:cNvPr id="3" name="Picture 2" descr="arch_ms_por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709" y="804672"/>
            <a:ext cx="4182581" cy="56418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arch ms comm flow</a:t>
            </a:r>
          </a:p>
        </p:txBody>
      </p:sp>
      <p:pic>
        <p:nvPicPr>
          <p:cNvPr id="3" name="Picture 2" descr="arch_ms_comm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6044"/>
            <a:ext cx="8321040" cy="34991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000"/>
            </a:pPr>
            <a:r>
              <a:rPr dirty="0"/>
              <a:t>6. </a:t>
            </a:r>
            <a:r>
              <a:rPr dirty="0" err="1"/>
              <a:t>Mẫu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mềm</a:t>
            </a:r>
            <a:r>
              <a:rPr dirty="0"/>
              <a:t> (Design Pattern)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bIns="73152"/>
          <a:lstStyle/>
          <a:p>
            <a:pPr marL="0" indent="0">
              <a:spcAft>
                <a:spcPts val="300"/>
              </a:spcAft>
              <a:buNone/>
              <a:defRPr sz="1100"/>
            </a:pPr>
            <a:r>
              <a:rPr dirty="0" err="1"/>
              <a:t>Nên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vẽ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án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thuyết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diễn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dp pattern catalog</a:t>
            </a:r>
          </a:p>
        </p:txBody>
      </p:sp>
      <p:pic>
        <p:nvPicPr>
          <p:cNvPr id="3" name="Picture 2" descr="dp_pattern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5189"/>
            <a:ext cx="8321040" cy="564081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arch integration pattern map</a:t>
            </a:r>
          </a:p>
        </p:txBody>
      </p:sp>
      <p:pic>
        <p:nvPicPr>
          <p:cNvPr id="3" name="Picture 2" descr="arch_integration_patter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52" y="804672"/>
            <a:ext cx="6017294" cy="56418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000"/>
            </a:pPr>
            <a:r>
              <a:rPr dirty="0"/>
              <a:t>7. </a:t>
            </a:r>
            <a:r>
              <a:rPr dirty="0" err="1"/>
              <a:t>Cài</a:t>
            </a:r>
            <a:r>
              <a:rPr dirty="0"/>
              <a:t> </a:t>
            </a:r>
            <a:r>
              <a:rPr dirty="0" err="1"/>
              <a:t>đặt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 </a:t>
            </a:r>
            <a:r>
              <a:rPr dirty="0" err="1"/>
              <a:t>khai</a:t>
            </a:r>
            <a:r>
              <a:rPr dirty="0"/>
              <a:t> (CI/CD)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bIns="73152"/>
          <a:lstStyle/>
          <a:p>
            <a:pPr marL="0" indent="0">
              <a:spcAft>
                <a:spcPts val="300"/>
              </a:spcAft>
              <a:buNone/>
              <a:defRPr sz="1100"/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cicd github actions docker</a:t>
            </a:r>
          </a:p>
        </p:txBody>
      </p:sp>
      <p:pic>
        <p:nvPicPr>
          <p:cNvPr id="3" name="Picture 2" descr="cicd_github_actions_do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685" y="804672"/>
            <a:ext cx="2800629" cy="56418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deploy docker swarm topology</a:t>
            </a:r>
          </a:p>
        </p:txBody>
      </p:sp>
      <p:pic>
        <p:nvPicPr>
          <p:cNvPr id="3" name="Picture 2" descr="deploy_docker_swarm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686044"/>
            <a:ext cx="8321040" cy="187910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deploy swarm aws asbuilt</a:t>
            </a:r>
          </a:p>
        </p:txBody>
      </p:sp>
      <p:pic>
        <p:nvPicPr>
          <p:cNvPr id="3" name="Picture 2" descr="deploy_swarm_aws_asbui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13358"/>
            <a:ext cx="8321040" cy="24244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000"/>
            </a:pPr>
            <a:r>
              <a:rPr dirty="0"/>
              <a:t>8.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AI (AI / AI agent pipeline)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bIns="73152"/>
          <a:lstStyle/>
          <a:p>
            <a:pPr>
              <a:spcAft>
                <a:spcPts val="300"/>
              </a:spcAft>
              <a:defRPr sz="1100"/>
            </a:pPr>
            <a:r>
              <a:t>(middle level)</a:t>
            </a:r>
          </a:p>
          <a:p>
            <a:pPr>
              <a:spcAft>
                <a:spcPts val="300"/>
              </a:spcAft>
              <a:defRPr sz="1100"/>
            </a:pPr>
            <a:r>
              <a:t>Nên dùng hình ảnh tự vẽ theo hệ thống của dự án và tự thuyết minh diễn giải.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ai agent rag retrieval</a:t>
            </a:r>
          </a:p>
        </p:txBody>
      </p:sp>
      <p:pic>
        <p:nvPicPr>
          <p:cNvPr id="3" name="Picture 2" descr="ai_agent_rag_retri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854056"/>
            <a:ext cx="8321040" cy="154307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ai ml sklearn train infer pipeline</a:t>
            </a:r>
          </a:p>
        </p:txBody>
      </p:sp>
      <p:pic>
        <p:nvPicPr>
          <p:cNvPr id="3" name="Picture 2" descr="ai_ml_sklearn_train_infer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858" y="804672"/>
            <a:ext cx="4380283" cy="564184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000"/>
            </a:pPr>
            <a:r>
              <a:rPr dirty="0"/>
              <a:t>9. </a:t>
            </a:r>
            <a:r>
              <a:rPr dirty="0" err="1"/>
              <a:t>Giám</a:t>
            </a:r>
            <a:r>
              <a:rPr dirty="0"/>
              <a:t> </a:t>
            </a:r>
            <a:r>
              <a:rPr dirty="0" err="1"/>
              <a:t>sát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(System monitor)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bIns="73152"/>
          <a:lstStyle/>
          <a:p>
            <a:pPr>
              <a:spcAft>
                <a:spcPts val="300"/>
              </a:spcAft>
              <a:defRPr sz="1100"/>
            </a:pPr>
            <a:r>
              <a:rPr dirty="0"/>
              <a:t>(middle level)</a:t>
            </a:r>
          </a:p>
          <a:p>
            <a:pPr>
              <a:spcAft>
                <a:spcPts val="300"/>
              </a:spcAft>
              <a:defRPr sz="1100"/>
            </a:pPr>
            <a:r>
              <a:rPr dirty="0" err="1"/>
              <a:t>Nên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vẽ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án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thuyết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diễn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.</a:t>
            </a:r>
          </a:p>
          <a:p>
            <a:pPr>
              <a:spcAft>
                <a:spcPts val="300"/>
              </a:spcAft>
              <a:defRPr sz="1100"/>
            </a:pPr>
            <a:r>
              <a:rPr dirty="0"/>
              <a:t>ELK (Elastic Logstash Kibana): Logging.</a:t>
            </a:r>
          </a:p>
          <a:p>
            <a:pPr>
              <a:spcAft>
                <a:spcPts val="300"/>
              </a:spcAft>
              <a:defRPr sz="1100"/>
            </a:pPr>
            <a:r>
              <a:rPr dirty="0"/>
              <a:t>Grafana / Prometheus: Performance.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mon prometheus grafana stack</a:t>
            </a:r>
          </a:p>
        </p:txBody>
      </p:sp>
      <p:pic>
        <p:nvPicPr>
          <p:cNvPr id="3" name="Picture 2" descr="mon_prometheus_grafana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29483"/>
            <a:ext cx="8321040" cy="259222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000"/>
            </a:pPr>
            <a:r>
              <a:rPr dirty="0"/>
              <a:t>10.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dịch</a:t>
            </a:r>
            <a:r>
              <a:rPr dirty="0"/>
              <a:t> (Transaction process — MSA)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bIns="73152"/>
          <a:lstStyle/>
          <a:p>
            <a:pPr>
              <a:spcAft>
                <a:spcPts val="300"/>
              </a:spcAft>
              <a:defRPr sz="1100"/>
            </a:pPr>
            <a:r>
              <a:t>(senior level)</a:t>
            </a:r>
          </a:p>
          <a:p>
            <a:pPr>
              <a:spcAft>
                <a:spcPts val="300"/>
              </a:spcAft>
              <a:defRPr sz="1100"/>
            </a:pPr>
            <a:r>
              <a:t>Nên dùng hình ảnh tự vẽ theo hệ thống của dự án và tự thuyết minh diễn giải.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seq payment after ride complete</a:t>
            </a:r>
          </a:p>
        </p:txBody>
      </p:sp>
      <p:pic>
        <p:nvPicPr>
          <p:cNvPr id="3" name="Picture 2" descr="seq_payment_after_ride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978" y="804672"/>
            <a:ext cx="7004043" cy="564184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act payment online saga</a:t>
            </a:r>
          </a:p>
        </p:txBody>
      </p:sp>
      <p:pic>
        <p:nvPicPr>
          <p:cNvPr id="3" name="Picture 2" descr="act_payment_online_sa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8076"/>
            <a:ext cx="8321040" cy="367503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seq payment ipn idempotent</a:t>
            </a:r>
          </a:p>
        </p:txBody>
      </p:sp>
      <p:pic>
        <p:nvPicPr>
          <p:cNvPr id="3" name="Picture 2" descr="seq_payment_ipn_idempo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65560"/>
            <a:ext cx="8321040" cy="452007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000"/>
            </a:pPr>
            <a:r>
              <a:rPr dirty="0"/>
              <a:t>11.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đáp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nhu</a:t>
            </a:r>
            <a:r>
              <a:rPr dirty="0"/>
              <a:t> </a:t>
            </a:r>
            <a:r>
              <a:rPr dirty="0" err="1"/>
              <a:t>cầu</a:t>
            </a:r>
            <a:r>
              <a:rPr dirty="0"/>
              <a:t> (System scalability)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bIns="73152"/>
          <a:lstStyle/>
          <a:p>
            <a:pPr>
              <a:spcAft>
                <a:spcPts val="300"/>
              </a:spcAft>
              <a:defRPr sz="1100"/>
            </a:pPr>
            <a:r>
              <a:t>(senior level)</a:t>
            </a:r>
          </a:p>
          <a:p>
            <a:pPr>
              <a:spcAft>
                <a:spcPts val="300"/>
              </a:spcAft>
              <a:defRPr sz="1100"/>
            </a:pPr>
            <a:r>
              <a:t>Nên dùng hình ảnh tự vẽ theo hệ thống của dự án và tự thuyết minh diễn giải.</a:t>
            </a:r>
          </a:p>
          <a:p>
            <a:pPr>
              <a:spcAft>
                <a:spcPts val="300"/>
              </a:spcAft>
              <a:defRPr sz="1100"/>
            </a:pPr>
            <a:r>
              <a:t>Đánh giá hiệu năng mở hệ thống.</a:t>
            </a:r>
          </a:p>
          <a:p>
            <a:pPr>
              <a:spcAft>
                <a:spcPts val="300"/>
              </a:spcAft>
              <a:defRPr sz="1100"/>
            </a:pPr>
            <a:r>
              <a:t>Ví dụ: quy mô lớn — Yêu cầu hệ thống đáp ứng nhanh (SLA).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arch scalability approach</a:t>
            </a:r>
          </a:p>
        </p:txBody>
      </p:sp>
      <p:pic>
        <p:nvPicPr>
          <p:cNvPr id="3" name="Picture 2" descr="arch_scalability_appr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959" y="804672"/>
            <a:ext cx="4684080" cy="564184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000"/>
            </a:pPr>
            <a:r>
              <a:rPr dirty="0"/>
              <a:t>12. </a:t>
            </a: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cường</a:t>
            </a:r>
            <a:r>
              <a:rPr dirty="0"/>
              <a:t> </a:t>
            </a:r>
            <a:r>
              <a:rPr dirty="0" err="1"/>
              <a:t>bảo</a:t>
            </a:r>
            <a:r>
              <a:rPr dirty="0"/>
              <a:t> </a:t>
            </a:r>
            <a:r>
              <a:rPr dirty="0" err="1"/>
              <a:t>mật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bIns="73152"/>
          <a:lstStyle/>
          <a:p>
            <a:pPr>
              <a:spcAft>
                <a:spcPts val="300"/>
              </a:spcAft>
              <a:defRPr sz="1100"/>
            </a:pPr>
            <a:r>
              <a:t>(senior level)</a:t>
            </a:r>
          </a:p>
          <a:p>
            <a:pPr>
              <a:spcAft>
                <a:spcPts val="300"/>
              </a:spcAft>
              <a:defRPr sz="1100"/>
            </a:pPr>
            <a:r>
              <a:t>Nên dùng hình ảnh tự vẽ theo hệ thống của dự án và tự thuyết minh diễn giải.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Minh họa: sec trust boundary multitier</a:t>
            </a:r>
          </a:p>
        </p:txBody>
      </p:sp>
      <p:pic>
        <p:nvPicPr>
          <p:cNvPr id="3" name="Picture 2" descr="sec_trust_boundary_multi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899" y="804672"/>
            <a:ext cx="3336201" cy="564184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000"/>
            </a:pPr>
            <a:r>
              <a:t>13. 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bIns="73152"/>
          <a:lstStyle/>
          <a:p>
            <a:pPr>
              <a:spcAft>
                <a:spcPts val="300"/>
              </a:spcAft>
              <a:defRPr sz="1100"/>
            </a:pPr>
            <a:r>
              <a:t>Mô tả bài toán ngắn gọn — danh sách gạch đầu dòng ý chính; tự thuyết minh chi tiết.</a:t>
            </a:r>
          </a:p>
          <a:p>
            <a:pPr>
              <a:spcAft>
                <a:spcPts val="300"/>
              </a:spcAft>
              <a:defRPr sz="1100"/>
            </a:pPr>
            <a:r>
              <a:t>Dùng bảng so sánh ưu điểm / nhược điểm.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000"/>
            </a:pPr>
            <a:r>
              <a:t>14.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bIns="73152"/>
          <a:lstStyle/>
          <a:p>
            <a:pPr>
              <a:spcAft>
                <a:spcPts val="300"/>
              </a:spcAft>
              <a:defRPr sz="1100"/>
            </a:pPr>
            <a:r>
              <a:t>Bắt đầu demo ứng dụng trực tiếp.</a:t>
            </a:r>
          </a:p>
          <a:p>
            <a:pPr>
              <a:spcAft>
                <a:spcPts val="300"/>
              </a:spcAft>
              <a:defRPr sz="1100"/>
            </a:pPr>
            <a:r>
              <a:t>Nạp dữ liệu mẫu trước; chọn quy trình hoàn chỉnh; dành thời gian cho chức năng đặc sắc (đặc biệt AI).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defRPr sz="2800"/>
            </a:pPr>
            <a:r>
              <a:t>Cảm ơn thầy cô và hội đồng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defRPr sz="1400"/>
            </a:pPr>
            <a:r>
              <a:t>Hỏi &amp; đáp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1228</Words>
  <Application>Microsoft Office PowerPoint</Application>
  <PresentationFormat>On-screen Show (4:3)</PresentationFormat>
  <Paragraphs>94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Tahoma</vt:lpstr>
      <vt:lpstr>Times New Roman</vt:lpstr>
      <vt:lpstr>Office Theme</vt:lpstr>
      <vt:lpstr>BÁO CÁO KHÓA LUẬN TỐT NGHIỆP Đề tài: Thiết kế và xây dựng hệ thống đặt xe dịch vụ thời gian thực theo hướng kiến trúc vi dịch vụ</vt:lpstr>
      <vt:lpstr>Danh sách nội dung</vt:lpstr>
      <vt:lpstr>1. Đặt vấn đề (Problem and scope)</vt:lpstr>
      <vt:lpstr>2. Thu thập yêu cầu và khảo sát nghiệp vụ (Requirement and survey)</vt:lpstr>
      <vt:lpstr>Bài toán thực tế</vt:lpstr>
      <vt:lpstr>PowerPoint Presentation</vt:lpstr>
      <vt:lpstr>PowerPoint Presentation</vt:lpstr>
      <vt:lpstr>3. Phân tích và thiết kế nghiệp vụ (DDD)</vt:lpstr>
      <vt:lpstr>PowerPoint Presentation</vt:lpstr>
      <vt:lpstr>PowerPoint Presentation</vt:lpstr>
      <vt:lpstr>PowerPoint Presentation</vt:lpstr>
      <vt:lpstr>4. Phân tích và thiết kế chức năng (Use case diagram)</vt:lpstr>
      <vt:lpstr>PowerPoint Presentation</vt:lpstr>
      <vt:lpstr>PowerPoint Presentation</vt:lpstr>
      <vt:lpstr>5. Thiết kế kiến trúc hệ thống (SAD)</vt:lpstr>
      <vt:lpstr>PowerPoint Presentation</vt:lpstr>
      <vt:lpstr>PowerPoint Presentation</vt:lpstr>
      <vt:lpstr>PowerPoint Presentation</vt:lpstr>
      <vt:lpstr>6. Mẫu thiết kế phần mềm (Design Pattern)</vt:lpstr>
      <vt:lpstr>PowerPoint Presentation</vt:lpstr>
      <vt:lpstr>PowerPoint Presentation</vt:lpstr>
      <vt:lpstr>7. Cài đặt và triển khai (CI/CD)</vt:lpstr>
      <vt:lpstr>PowerPoint Presentation</vt:lpstr>
      <vt:lpstr>PowerPoint Presentation</vt:lpstr>
      <vt:lpstr>PowerPoint Presentation</vt:lpstr>
      <vt:lpstr>8. Ứng dụng AI (AI / AI agent pipeline)</vt:lpstr>
      <vt:lpstr>PowerPoint Presentation</vt:lpstr>
      <vt:lpstr>PowerPoint Presentation</vt:lpstr>
      <vt:lpstr>9. Giám sát hệ thống (System monitor)</vt:lpstr>
      <vt:lpstr>PowerPoint Presentation</vt:lpstr>
      <vt:lpstr>10. Tối ưu kiến trúc giao dịch (Transaction process — MSA)</vt:lpstr>
      <vt:lpstr>PowerPoint Presentation</vt:lpstr>
      <vt:lpstr>PowerPoint Presentation</vt:lpstr>
      <vt:lpstr>PowerPoint Presentation</vt:lpstr>
      <vt:lpstr>11. Tối ưu hóa hệ thống đáp ứng nhu cầu (System scalability)</vt:lpstr>
      <vt:lpstr>PowerPoint Presentation</vt:lpstr>
      <vt:lpstr>12. Tăng cường bảo mật hệ thống và dữ liệu</vt:lpstr>
      <vt:lpstr>PowerPoint Presentation</vt:lpstr>
      <vt:lpstr>13. Kết luận</vt:lpstr>
      <vt:lpstr>14. Demo</vt:lpstr>
      <vt:lpstr>Cảm ơn thầy cô và hội đồng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KHÓA LUẬN TỐT NGHIỆP Đề tài: Thiết kế và xây dựng hệ thống đặt xe dịch vụ thời gian thực theo hướng kiến trúc vi dịch vụ</dc:title>
  <dc:subject/>
  <dc:creator/>
  <cp:keywords/>
  <dc:description>generated using python-pptx</dc:description>
  <cp:lastModifiedBy>Sáng Trần Quốc</cp:lastModifiedBy>
  <cp:revision>4</cp:revision>
  <dcterms:created xsi:type="dcterms:W3CDTF">2013-01-27T09:14:16Z</dcterms:created>
  <dcterms:modified xsi:type="dcterms:W3CDTF">2026-05-08T19:42:01Z</dcterms:modified>
  <cp:category/>
</cp:coreProperties>
</file>