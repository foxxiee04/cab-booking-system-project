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97" r:id="rId5"/>
    <p:sldId id="29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9" r:id="rId15"/>
    <p:sldId id="300" r:id="rId16"/>
    <p:sldId id="301" r:id="rId17"/>
    <p:sldId id="259" r:id="rId18"/>
    <p:sldId id="271" r:id="rId19"/>
    <p:sldId id="272" r:id="rId20"/>
    <p:sldId id="273" r:id="rId21"/>
    <p:sldId id="274" r:id="rId22"/>
    <p:sldId id="275" r:id="rId23"/>
    <p:sldId id="303" r:id="rId24"/>
    <p:sldId id="277" r:id="rId25"/>
    <p:sldId id="278" r:id="rId26"/>
    <p:sldId id="279" r:id="rId27"/>
    <p:sldId id="280" r:id="rId28"/>
    <p:sldId id="281" r:id="rId29"/>
    <p:sldId id="282" r:id="rId30"/>
    <p:sldId id="304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2" r:id="rId39"/>
    <p:sldId id="302" r:id="rId40"/>
    <p:sldId id="269" r:id="rId41"/>
    <p:sldId id="270" r:id="rId42"/>
    <p:sldId id="305" r:id="rId43"/>
    <p:sldId id="294" r:id="rId44"/>
    <p:sldId id="296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914" y="2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856245"/>
            <a:ext cx="9147572" cy="5145510"/>
            <a:chOff x="0" y="0"/>
            <a:chExt cx="43349329" cy="2438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292" cy="24384000"/>
            </a:xfrm>
            <a:custGeom>
              <a:avLst/>
              <a:gdLst/>
              <a:ahLst/>
              <a:cxnLst/>
              <a:rect l="l" t="t" r="r" b="b"/>
              <a:pathLst>
                <a:path w="43349292" h="24384000">
                  <a:moveTo>
                    <a:pt x="0" y="0"/>
                  </a:moveTo>
                  <a:lnTo>
                    <a:pt x="43349292" y="0"/>
                  </a:lnTo>
                  <a:lnTo>
                    <a:pt x="43349292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1. Đặt vấn đề (Problem and scope)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37176" cy="4525963"/>
          </a:xfrm>
        </p:spPr>
        <p:txBody>
          <a:bodyPr wrap="square" lIns="45720" bIns="73152">
            <a:normAutofit/>
          </a:bodyPr>
          <a:lstStyle/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300" dirty="0">
                <a:latin typeface="+mj-lt"/>
              </a:rPr>
              <a:t>• Trong </a:t>
            </a:r>
            <a:r>
              <a:rPr lang="vi-VN" sz="1300" dirty="0" err="1">
                <a:latin typeface="+mj-lt"/>
              </a:rPr>
              <a:t>những</a:t>
            </a:r>
            <a:r>
              <a:rPr lang="vi-VN" sz="1300" dirty="0">
                <a:latin typeface="+mj-lt"/>
              </a:rPr>
              <a:t> năm </a:t>
            </a:r>
            <a:r>
              <a:rPr lang="vi-VN" sz="1300" dirty="0" err="1">
                <a:latin typeface="+mj-lt"/>
              </a:rPr>
              <a:t>gần</a:t>
            </a:r>
            <a:r>
              <a:rPr lang="vi-VN" sz="1300" dirty="0">
                <a:latin typeface="+mj-lt"/>
              </a:rPr>
              <a:t> đây, </a:t>
            </a:r>
            <a:r>
              <a:rPr lang="vi-VN" sz="1300" dirty="0" err="1">
                <a:latin typeface="+mj-lt"/>
              </a:rPr>
              <a:t>các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nền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tảng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gọi</a:t>
            </a:r>
            <a:r>
              <a:rPr lang="vi-VN" sz="1300" dirty="0">
                <a:latin typeface="+mj-lt"/>
              </a:rPr>
              <a:t> xe công </a:t>
            </a:r>
            <a:r>
              <a:rPr lang="vi-VN" sz="1300" dirty="0" err="1">
                <a:latin typeface="+mj-lt"/>
              </a:rPr>
              <a:t>nghệ</a:t>
            </a:r>
            <a:r>
              <a:rPr lang="vi-VN" sz="1300" dirty="0">
                <a:latin typeface="+mj-lt"/>
              </a:rPr>
              <a:t> như </a:t>
            </a:r>
            <a:r>
              <a:rPr lang="vi-VN" sz="1300" dirty="0" err="1">
                <a:latin typeface="+mj-lt"/>
              </a:rPr>
              <a:t>Grab</a:t>
            </a:r>
            <a:r>
              <a:rPr lang="vi-VN" sz="1300" dirty="0">
                <a:latin typeface="+mj-lt"/>
              </a:rPr>
              <a:t>, </a:t>
            </a:r>
            <a:r>
              <a:rPr lang="en-US" sz="1300" dirty="0" err="1">
                <a:latin typeface="+mj-lt"/>
              </a:rPr>
              <a:t>Xanh</a:t>
            </a:r>
            <a:r>
              <a:rPr lang="en-US" sz="1300" dirty="0">
                <a:latin typeface="+mj-lt"/>
              </a:rPr>
              <a:t> SM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và</a:t>
            </a:r>
            <a:r>
              <a:rPr lang="vi-VN" sz="1300" dirty="0">
                <a:latin typeface="+mj-lt"/>
              </a:rPr>
              <a:t> Be </a:t>
            </a:r>
            <a:r>
              <a:rPr lang="vi-VN" sz="1300" dirty="0" err="1">
                <a:latin typeface="+mj-lt"/>
              </a:rPr>
              <a:t>đã</a:t>
            </a:r>
            <a:r>
              <a:rPr lang="vi-VN" sz="1300" dirty="0">
                <a:latin typeface="+mj-lt"/>
              </a:rPr>
              <a:t> thay </a:t>
            </a:r>
            <a:r>
              <a:rPr lang="vi-VN" sz="1300" dirty="0" err="1">
                <a:latin typeface="+mj-lt"/>
              </a:rPr>
              <a:t>đổi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mạnh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mẽ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thói</a:t>
            </a:r>
            <a:r>
              <a:rPr lang="vi-VN" sz="1300" dirty="0">
                <a:latin typeface="+mj-lt"/>
              </a:rPr>
              <a:t> quen di </a:t>
            </a:r>
            <a:r>
              <a:rPr lang="vi-VN" sz="1300" dirty="0" err="1">
                <a:latin typeface="+mj-lt"/>
              </a:rPr>
              <a:t>chuyển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của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người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dùng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tại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Việt</a:t>
            </a:r>
            <a:r>
              <a:rPr lang="vi-VN" sz="1300" dirty="0">
                <a:latin typeface="+mj-lt"/>
              </a:rPr>
              <a:t> Nam.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300" dirty="0">
                <a:latin typeface="+mj-lt"/>
              </a:rPr>
              <a:t>• Tuy nhiên, </a:t>
            </a:r>
            <a:r>
              <a:rPr lang="vi-VN" sz="1300" dirty="0" err="1">
                <a:latin typeface="+mj-lt"/>
              </a:rPr>
              <a:t>các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hệ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thống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gọi</a:t>
            </a:r>
            <a:r>
              <a:rPr lang="vi-VN" sz="1300" dirty="0">
                <a:latin typeface="+mj-lt"/>
              </a:rPr>
              <a:t> xe </a:t>
            </a:r>
            <a:r>
              <a:rPr lang="vi-VN" sz="1300" dirty="0" err="1">
                <a:latin typeface="+mj-lt"/>
              </a:rPr>
              <a:t>hiện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đại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đòi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hỏi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khả</a:t>
            </a:r>
            <a:r>
              <a:rPr lang="vi-VN" sz="1300" dirty="0">
                <a:latin typeface="+mj-lt"/>
              </a:rPr>
              <a:t> năng </a:t>
            </a:r>
            <a:r>
              <a:rPr lang="vi-VN" sz="1300" dirty="0" err="1">
                <a:latin typeface="+mj-lt"/>
              </a:rPr>
              <a:t>xử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lý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realtime</a:t>
            </a:r>
            <a:r>
              <a:rPr lang="vi-VN" sz="1300" dirty="0">
                <a:latin typeface="+mj-lt"/>
              </a:rPr>
              <a:t>, </a:t>
            </a:r>
            <a:r>
              <a:rPr lang="vi-VN" sz="1300" dirty="0" err="1">
                <a:latin typeface="+mj-lt"/>
              </a:rPr>
              <a:t>định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vị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chính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xác</a:t>
            </a:r>
            <a:r>
              <a:rPr lang="vi-VN" sz="1300" dirty="0">
                <a:latin typeface="+mj-lt"/>
              </a:rPr>
              <a:t>, </a:t>
            </a:r>
            <a:r>
              <a:rPr lang="vi-VN" sz="1300" dirty="0" err="1">
                <a:latin typeface="+mj-lt"/>
              </a:rPr>
              <a:t>quản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lý</a:t>
            </a:r>
            <a:r>
              <a:rPr lang="vi-VN" sz="1300" dirty="0">
                <a:latin typeface="+mj-lt"/>
              </a:rPr>
              <a:t> giao </a:t>
            </a:r>
            <a:r>
              <a:rPr lang="vi-VN" sz="1300" dirty="0" err="1">
                <a:latin typeface="+mj-lt"/>
              </a:rPr>
              <a:t>dịch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tài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chính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và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mở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rộng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hệ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thống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với</a:t>
            </a:r>
            <a:r>
              <a:rPr lang="vi-VN" sz="1300" dirty="0">
                <a:latin typeface="+mj-lt"/>
              </a:rPr>
              <a:t> lưu </a:t>
            </a:r>
            <a:r>
              <a:rPr lang="vi-VN" sz="1300" dirty="0" err="1">
                <a:latin typeface="+mj-lt"/>
              </a:rPr>
              <a:t>lượng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lớn</a:t>
            </a:r>
            <a:r>
              <a:rPr lang="vi-VN" sz="1300" dirty="0">
                <a:latin typeface="+mj-lt"/>
              </a:rPr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300" dirty="0">
                <a:latin typeface="+mj-lt"/>
              </a:rPr>
              <a:t>• </a:t>
            </a:r>
            <a:r>
              <a:rPr lang="vi-VN" sz="1300" dirty="0" err="1">
                <a:latin typeface="+mj-lt"/>
              </a:rPr>
              <a:t>Nhóm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thực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hiện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đề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tài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nhằm</a:t>
            </a:r>
            <a:r>
              <a:rPr lang="vi-VN" sz="1300" dirty="0">
                <a:latin typeface="+mj-lt"/>
              </a:rPr>
              <a:t> nghiên </a:t>
            </a:r>
            <a:r>
              <a:rPr lang="vi-VN" sz="1300" dirty="0" err="1">
                <a:latin typeface="+mj-lt"/>
              </a:rPr>
              <a:t>cứu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và</a:t>
            </a:r>
            <a:r>
              <a:rPr lang="vi-VN" sz="1300" dirty="0">
                <a:latin typeface="+mj-lt"/>
              </a:rPr>
              <a:t> xây </a:t>
            </a:r>
            <a:r>
              <a:rPr lang="vi-VN" sz="1300" dirty="0" err="1">
                <a:latin typeface="+mj-lt"/>
              </a:rPr>
              <a:t>dựng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một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hệ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thống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đặt</a:t>
            </a:r>
            <a:r>
              <a:rPr lang="vi-VN" sz="1300" dirty="0">
                <a:latin typeface="+mj-lt"/>
              </a:rPr>
              <a:t> xe </a:t>
            </a:r>
            <a:r>
              <a:rPr lang="vi-VN" sz="1300" dirty="0" err="1">
                <a:latin typeface="+mj-lt"/>
              </a:rPr>
              <a:t>hoàn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chỉnh</a:t>
            </a:r>
            <a:r>
              <a:rPr lang="vi-VN" sz="1300" dirty="0">
                <a:latin typeface="+mj-lt"/>
              </a:rPr>
              <a:t> theo </a:t>
            </a:r>
            <a:r>
              <a:rPr lang="vi-VN" sz="1300" dirty="0" err="1">
                <a:latin typeface="+mj-lt"/>
              </a:rPr>
              <a:t>hướng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hiện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đại</a:t>
            </a:r>
            <a:r>
              <a:rPr lang="vi-VN" sz="1300" dirty="0">
                <a:latin typeface="+mj-lt"/>
              </a:rPr>
              <a:t>, mô </a:t>
            </a:r>
            <a:r>
              <a:rPr lang="vi-VN" sz="1300" dirty="0" err="1">
                <a:latin typeface="+mj-lt"/>
              </a:rPr>
              <a:t>phỏng</a:t>
            </a:r>
            <a:r>
              <a:rPr lang="vi-VN" sz="1300" dirty="0">
                <a:latin typeface="+mj-lt"/>
              </a:rPr>
              <a:t> mô </a:t>
            </a:r>
            <a:r>
              <a:rPr lang="vi-VN" sz="1300" dirty="0" err="1">
                <a:latin typeface="+mj-lt"/>
              </a:rPr>
              <a:t>hình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vận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hành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thực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tế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của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các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nền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tảng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ride-hailing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hiện</a:t>
            </a:r>
            <a:r>
              <a:rPr lang="vi-VN" sz="1300" dirty="0">
                <a:latin typeface="+mj-lt"/>
              </a:rPr>
              <a:t> nay.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300" dirty="0">
                <a:latin typeface="+mj-lt"/>
              </a:rPr>
              <a:t>• </a:t>
            </a:r>
            <a:r>
              <a:rPr lang="vi-VN" sz="1300" dirty="0" err="1">
                <a:latin typeface="+mj-lt"/>
              </a:rPr>
              <a:t>Đề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tài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đồng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thời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tập</a:t>
            </a:r>
            <a:r>
              <a:rPr lang="vi-VN" sz="1300" dirty="0">
                <a:latin typeface="+mj-lt"/>
              </a:rPr>
              <a:t> trung </a:t>
            </a:r>
            <a:r>
              <a:rPr lang="vi-VN" sz="1300" dirty="0" err="1">
                <a:latin typeface="+mj-lt"/>
              </a:rPr>
              <a:t>vào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khả</a:t>
            </a:r>
            <a:r>
              <a:rPr lang="vi-VN" sz="1300" dirty="0">
                <a:latin typeface="+mj-lt"/>
              </a:rPr>
              <a:t> năng </a:t>
            </a:r>
            <a:r>
              <a:rPr lang="vi-VN" sz="1300" dirty="0" err="1">
                <a:latin typeface="+mj-lt"/>
              </a:rPr>
              <a:t>ứng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dụng</a:t>
            </a:r>
            <a:r>
              <a:rPr lang="vi-VN" sz="1300" dirty="0">
                <a:latin typeface="+mj-lt"/>
              </a:rPr>
              <a:t> AI, </a:t>
            </a:r>
            <a:r>
              <a:rPr lang="vi-VN" sz="1300" dirty="0" err="1">
                <a:latin typeface="+mj-lt"/>
              </a:rPr>
              <a:t>microservices</a:t>
            </a:r>
            <a:r>
              <a:rPr lang="vi-VN" sz="1300" dirty="0">
                <a:latin typeface="+mj-lt"/>
              </a:rPr>
              <a:t>, </a:t>
            </a:r>
            <a:r>
              <a:rPr lang="vi-VN" sz="1300" dirty="0" err="1">
                <a:latin typeface="+mj-lt"/>
              </a:rPr>
              <a:t>cloud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deployment</a:t>
            </a:r>
            <a:r>
              <a:rPr lang="vi-VN" sz="1300" dirty="0">
                <a:latin typeface="+mj-lt"/>
              </a:rPr>
              <a:t> trong </a:t>
            </a:r>
            <a:r>
              <a:rPr lang="vi-VN" sz="1300" dirty="0" err="1">
                <a:latin typeface="+mj-lt"/>
              </a:rPr>
              <a:t>một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hệ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thống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thống</a:t>
            </a:r>
            <a:r>
              <a:rPr lang="vi-VN" sz="1300" dirty="0">
                <a:latin typeface="+mj-lt"/>
              </a:rPr>
              <a:t> </a:t>
            </a:r>
            <a:r>
              <a:rPr lang="vi-VN" sz="1300" dirty="0" err="1">
                <a:latin typeface="+mj-lt"/>
              </a:rPr>
              <a:t>nhất</a:t>
            </a:r>
            <a:r>
              <a:rPr lang="vi-VN" sz="1300" dirty="0">
                <a:latin typeface="+mj-l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12868"/>
          </a:xfrm>
        </p:spPr>
        <p:txBody>
          <a:bodyPr wrap="square"/>
          <a:lstStyle/>
          <a:p>
            <a:pPr>
              <a:defRPr sz="2000"/>
            </a:pPr>
            <a:r>
              <a:rPr dirty="0"/>
              <a:t>2. Thu </a:t>
            </a:r>
            <a:r>
              <a:rPr dirty="0" err="1"/>
              <a:t>thập</a:t>
            </a:r>
            <a:r>
              <a:rPr dirty="0"/>
              <a:t> </a:t>
            </a:r>
            <a:r>
              <a:rPr dirty="0" err="1"/>
              <a:t>yêu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khảo</a:t>
            </a:r>
            <a:r>
              <a:rPr dirty="0"/>
              <a:t> </a:t>
            </a:r>
            <a:r>
              <a:rPr dirty="0" err="1"/>
              <a:t>sát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(Requirement and survey)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5814" y="4034118"/>
            <a:ext cx="8319246" cy="4509248"/>
          </a:xfrm>
        </p:spPr>
        <p:txBody>
          <a:bodyPr wrap="square" lIns="45720" bIns="73152">
            <a:normAutofit/>
          </a:bodyPr>
          <a:lstStyle/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Nhóm</a:t>
            </a:r>
            <a:r>
              <a:rPr lang="vi-VN" sz="1200" dirty="0"/>
              <a:t> </a:t>
            </a:r>
            <a:r>
              <a:rPr lang="vi-VN" sz="1200" dirty="0" err="1"/>
              <a:t>thực</a:t>
            </a:r>
            <a:r>
              <a:rPr lang="vi-VN" sz="1200" dirty="0"/>
              <a:t> </a:t>
            </a:r>
            <a:r>
              <a:rPr lang="vi-VN" sz="1200" dirty="0" err="1"/>
              <a:t>hiện</a:t>
            </a:r>
            <a:r>
              <a:rPr lang="vi-VN" sz="1200" dirty="0"/>
              <a:t> </a:t>
            </a:r>
            <a:r>
              <a:rPr lang="vi-VN" sz="1200" dirty="0" err="1"/>
              <a:t>đã</a:t>
            </a:r>
            <a:r>
              <a:rPr lang="vi-VN" sz="1200" dirty="0"/>
              <a:t> </a:t>
            </a:r>
            <a:r>
              <a:rPr lang="vi-VN" sz="1200" dirty="0" err="1"/>
              <a:t>tiến</a:t>
            </a:r>
            <a:r>
              <a:rPr lang="vi-VN" sz="1200" dirty="0"/>
              <a:t> </a:t>
            </a:r>
            <a:r>
              <a:rPr lang="vi-VN" sz="1200" dirty="0" err="1"/>
              <a:t>hành</a:t>
            </a:r>
            <a:r>
              <a:rPr lang="vi-VN" sz="1200" dirty="0"/>
              <a:t> </a:t>
            </a:r>
            <a:r>
              <a:rPr lang="vi-VN" sz="1200" dirty="0" err="1"/>
              <a:t>khảo</a:t>
            </a:r>
            <a:r>
              <a:rPr lang="vi-VN" sz="1200" dirty="0"/>
              <a:t> </a:t>
            </a:r>
            <a:r>
              <a:rPr lang="vi-VN" sz="1200" dirty="0" err="1"/>
              <a:t>sát</a:t>
            </a:r>
            <a:r>
              <a:rPr lang="vi-VN" sz="1200" dirty="0"/>
              <a:t> nhu </a:t>
            </a:r>
            <a:r>
              <a:rPr lang="vi-VN" sz="1200" dirty="0" err="1"/>
              <a:t>cầu</a:t>
            </a:r>
            <a:r>
              <a:rPr lang="vi-VN" sz="1200" dirty="0"/>
              <a:t> </a:t>
            </a:r>
            <a:r>
              <a:rPr lang="vi-VN" sz="1200" dirty="0" err="1"/>
              <a:t>sử</a:t>
            </a:r>
            <a:r>
              <a:rPr lang="vi-VN" sz="1200" dirty="0"/>
              <a:t> </a:t>
            </a:r>
            <a:r>
              <a:rPr lang="vi-VN" sz="1200" dirty="0" err="1"/>
              <a:t>dụng</a:t>
            </a:r>
            <a:r>
              <a:rPr lang="vi-VN" sz="1200" dirty="0"/>
              <a:t> </a:t>
            </a:r>
            <a:r>
              <a:rPr lang="vi-VN" sz="1200" dirty="0" err="1"/>
              <a:t>ứng</a:t>
            </a:r>
            <a:r>
              <a:rPr lang="vi-VN" sz="1200" dirty="0"/>
              <a:t> </a:t>
            </a:r>
            <a:r>
              <a:rPr lang="vi-VN" sz="1200" dirty="0" err="1"/>
              <a:t>dụng</a:t>
            </a:r>
            <a:r>
              <a:rPr lang="vi-VN" sz="1200" dirty="0"/>
              <a:t> </a:t>
            </a:r>
            <a:r>
              <a:rPr lang="vi-VN" sz="1200" dirty="0" err="1"/>
              <a:t>gọi</a:t>
            </a:r>
            <a:r>
              <a:rPr lang="vi-VN" sz="1200" dirty="0"/>
              <a:t> xe </a:t>
            </a:r>
            <a:r>
              <a:rPr lang="vi-VN" sz="1200" dirty="0" err="1"/>
              <a:t>nhằm</a:t>
            </a:r>
            <a:r>
              <a:rPr lang="vi-VN" sz="1200" dirty="0"/>
              <a:t> </a:t>
            </a:r>
            <a:r>
              <a:rPr lang="vi-VN" sz="1200" dirty="0" err="1"/>
              <a:t>xác</a:t>
            </a:r>
            <a:r>
              <a:rPr lang="vi-VN" sz="1200" dirty="0"/>
              <a:t> </a:t>
            </a:r>
            <a:r>
              <a:rPr lang="vi-VN" sz="1200" dirty="0" err="1"/>
              <a:t>định</a:t>
            </a:r>
            <a:r>
              <a:rPr lang="vi-VN" sz="1200" dirty="0"/>
              <a:t> </a:t>
            </a:r>
            <a:r>
              <a:rPr lang="vi-VN" sz="1200" dirty="0" err="1"/>
              <a:t>các</a:t>
            </a:r>
            <a:r>
              <a:rPr lang="vi-VN" sz="1200" dirty="0"/>
              <a:t> </a:t>
            </a:r>
            <a:r>
              <a:rPr lang="vi-VN" sz="1200" dirty="0" err="1"/>
              <a:t>vấn</a:t>
            </a:r>
            <a:r>
              <a:rPr lang="vi-VN" sz="1200" dirty="0"/>
              <a:t> </a:t>
            </a:r>
            <a:r>
              <a:rPr lang="vi-VN" sz="1200" dirty="0" err="1"/>
              <a:t>đề</a:t>
            </a:r>
            <a:r>
              <a:rPr lang="vi-VN" sz="1200" dirty="0"/>
              <a:t> </a:t>
            </a:r>
            <a:r>
              <a:rPr lang="vi-VN" sz="1200" dirty="0" err="1"/>
              <a:t>người</a:t>
            </a:r>
            <a:r>
              <a:rPr lang="vi-VN" sz="1200" dirty="0"/>
              <a:t> </a:t>
            </a:r>
            <a:r>
              <a:rPr lang="vi-VN" sz="1200" dirty="0" err="1"/>
              <a:t>dùng</a:t>
            </a:r>
            <a:r>
              <a:rPr lang="vi-VN" sz="1200" dirty="0"/>
              <a:t> quan tâm </a:t>
            </a:r>
            <a:r>
              <a:rPr lang="vi-VN" sz="1200" dirty="0" err="1"/>
              <a:t>nhất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Kết</a:t>
            </a:r>
            <a:r>
              <a:rPr lang="vi-VN" sz="1200" dirty="0"/>
              <a:t> </a:t>
            </a:r>
            <a:r>
              <a:rPr lang="vi-VN" sz="1200" dirty="0" err="1"/>
              <a:t>quả</a:t>
            </a:r>
            <a:r>
              <a:rPr lang="vi-VN" sz="1200" dirty="0"/>
              <a:t> </a:t>
            </a:r>
            <a:r>
              <a:rPr lang="vi-VN" sz="1200" dirty="0" err="1"/>
              <a:t>khảo</a:t>
            </a:r>
            <a:r>
              <a:rPr lang="vi-VN" sz="1200" dirty="0"/>
              <a:t> </a:t>
            </a:r>
            <a:r>
              <a:rPr lang="vi-VN" sz="1200" dirty="0" err="1"/>
              <a:t>sát</a:t>
            </a:r>
            <a:r>
              <a:rPr lang="vi-VN" sz="1200" dirty="0"/>
              <a:t> cho </a:t>
            </a:r>
            <a:r>
              <a:rPr lang="vi-VN" sz="1200" dirty="0" err="1"/>
              <a:t>thấy</a:t>
            </a:r>
            <a:r>
              <a:rPr lang="vi-VN" sz="1200" dirty="0"/>
              <a:t> </a:t>
            </a:r>
            <a:r>
              <a:rPr lang="vi-VN" sz="1200" dirty="0" err="1"/>
              <a:t>phần</a:t>
            </a:r>
            <a:r>
              <a:rPr lang="vi-VN" sz="1200" dirty="0"/>
              <a:t> </a:t>
            </a:r>
            <a:r>
              <a:rPr lang="vi-VN" sz="1200" dirty="0" err="1"/>
              <a:t>lớn</a:t>
            </a:r>
            <a:r>
              <a:rPr lang="vi-VN" sz="1200" dirty="0"/>
              <a:t> </a:t>
            </a:r>
            <a:r>
              <a:rPr lang="vi-VN" sz="1200" dirty="0" err="1"/>
              <a:t>người</a:t>
            </a:r>
            <a:r>
              <a:rPr lang="vi-VN" sz="1200" dirty="0"/>
              <a:t> </a:t>
            </a:r>
            <a:r>
              <a:rPr lang="vi-VN" sz="1200" dirty="0" err="1"/>
              <a:t>dùng</a:t>
            </a:r>
            <a:r>
              <a:rPr lang="vi-VN" sz="1200" dirty="0"/>
              <a:t> </a:t>
            </a:r>
            <a:r>
              <a:rPr lang="vi-VN" sz="1200" dirty="0" err="1"/>
              <a:t>đánh</a:t>
            </a:r>
            <a:r>
              <a:rPr lang="vi-VN" sz="1200" dirty="0"/>
              <a:t> </a:t>
            </a:r>
            <a:r>
              <a:rPr lang="vi-VN" sz="1200" dirty="0" err="1"/>
              <a:t>giá</a:t>
            </a:r>
            <a:r>
              <a:rPr lang="vi-VN" sz="1200" dirty="0"/>
              <a:t> </a:t>
            </a:r>
            <a:r>
              <a:rPr lang="vi-VN" sz="1200" dirty="0" err="1"/>
              <a:t>rất</a:t>
            </a:r>
            <a:r>
              <a:rPr lang="vi-VN" sz="1200" dirty="0"/>
              <a:t> cao </a:t>
            </a:r>
            <a:r>
              <a:rPr lang="vi-VN" sz="1200" dirty="0" err="1"/>
              <a:t>khả</a:t>
            </a:r>
            <a:r>
              <a:rPr lang="vi-VN" sz="1200" dirty="0"/>
              <a:t> năng </a:t>
            </a:r>
            <a:r>
              <a:rPr lang="vi-VN" sz="1200" dirty="0" err="1"/>
              <a:t>hiển</a:t>
            </a:r>
            <a:r>
              <a:rPr lang="vi-VN" sz="1200" dirty="0"/>
              <a:t> </a:t>
            </a:r>
            <a:r>
              <a:rPr lang="vi-VN" sz="1200" dirty="0" err="1"/>
              <a:t>thị</a:t>
            </a:r>
            <a:r>
              <a:rPr lang="vi-VN" sz="1200" dirty="0"/>
              <a:t> </a:t>
            </a:r>
            <a:r>
              <a:rPr lang="vi-VN" sz="1200" dirty="0" err="1"/>
              <a:t>giá</a:t>
            </a:r>
            <a:r>
              <a:rPr lang="vi-VN" sz="1200" dirty="0"/>
              <a:t> </a:t>
            </a:r>
            <a:r>
              <a:rPr lang="vi-VN" sz="1200" dirty="0" err="1"/>
              <a:t>cước</a:t>
            </a:r>
            <a:r>
              <a:rPr lang="vi-VN" sz="1200" dirty="0"/>
              <a:t> minh </a:t>
            </a:r>
            <a:r>
              <a:rPr lang="vi-VN" sz="1200" dirty="0" err="1"/>
              <a:t>bạch</a:t>
            </a:r>
            <a:r>
              <a:rPr lang="vi-VN" sz="1200" dirty="0"/>
              <a:t>, ETA </a:t>
            </a:r>
            <a:r>
              <a:rPr lang="vi-VN" sz="1200" dirty="0" err="1"/>
              <a:t>chính</a:t>
            </a:r>
            <a:r>
              <a:rPr lang="vi-VN" sz="1200" dirty="0"/>
              <a:t> </a:t>
            </a:r>
            <a:r>
              <a:rPr lang="vi-VN" sz="1200" dirty="0" err="1"/>
              <a:t>xác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theo </a:t>
            </a:r>
            <a:r>
              <a:rPr lang="vi-VN" sz="1200" dirty="0" err="1"/>
              <a:t>dõi</a:t>
            </a:r>
            <a:r>
              <a:rPr lang="vi-VN" sz="1200" dirty="0"/>
              <a:t>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 </a:t>
            </a:r>
            <a:r>
              <a:rPr lang="vi-VN" sz="1200" dirty="0" err="1"/>
              <a:t>realtime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Yếu</a:t>
            </a:r>
            <a:r>
              <a:rPr lang="vi-VN" sz="1200" dirty="0"/>
              <a:t> </a:t>
            </a:r>
            <a:r>
              <a:rPr lang="vi-VN" sz="1200" dirty="0" err="1"/>
              <a:t>tố</a:t>
            </a:r>
            <a:r>
              <a:rPr lang="vi-VN" sz="1200" dirty="0"/>
              <a:t> an </a:t>
            </a:r>
            <a:r>
              <a:rPr lang="vi-VN" sz="1200" dirty="0" err="1"/>
              <a:t>toàn</a:t>
            </a:r>
            <a:r>
              <a:rPr lang="vi-VN" sz="1200" dirty="0"/>
              <a:t>, </a:t>
            </a:r>
            <a:r>
              <a:rPr lang="vi-VN" sz="1200" dirty="0" err="1"/>
              <a:t>tốc</a:t>
            </a:r>
            <a:r>
              <a:rPr lang="vi-VN" sz="1200" dirty="0"/>
              <a:t> </a:t>
            </a:r>
            <a:r>
              <a:rPr lang="vi-VN" sz="1200" dirty="0" err="1"/>
              <a:t>độ</a:t>
            </a:r>
            <a:r>
              <a:rPr lang="vi-VN" sz="1200" dirty="0"/>
              <a:t> </a:t>
            </a:r>
            <a:r>
              <a:rPr lang="vi-VN" sz="1200" dirty="0" err="1"/>
              <a:t>matching</a:t>
            </a:r>
            <a:r>
              <a:rPr lang="vi-VN" sz="1200" dirty="0"/>
              <a:t>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ổn</a:t>
            </a:r>
            <a:r>
              <a:rPr lang="vi-VN" sz="1200" dirty="0"/>
              <a:t> </a:t>
            </a:r>
            <a:r>
              <a:rPr lang="vi-VN" sz="1200" dirty="0" err="1"/>
              <a:t>định</a:t>
            </a:r>
            <a:r>
              <a:rPr lang="vi-VN" sz="1200" dirty="0"/>
              <a:t> thanh </a:t>
            </a:r>
            <a:r>
              <a:rPr lang="vi-VN" sz="1200" dirty="0" err="1"/>
              <a:t>toán</a:t>
            </a:r>
            <a:r>
              <a:rPr lang="vi-VN" sz="1200" dirty="0"/>
              <a:t> </a:t>
            </a:r>
            <a:r>
              <a:rPr lang="vi-VN" sz="1200" dirty="0" err="1"/>
              <a:t>là</a:t>
            </a:r>
            <a:r>
              <a:rPr lang="vi-VN" sz="1200" dirty="0"/>
              <a:t> </a:t>
            </a:r>
            <a:r>
              <a:rPr lang="vi-VN" sz="1200" dirty="0" err="1"/>
              <a:t>những</a:t>
            </a:r>
            <a:r>
              <a:rPr lang="vi-VN" sz="1200" dirty="0"/>
              <a:t> tiêu </a:t>
            </a:r>
            <a:r>
              <a:rPr lang="vi-VN" sz="1200" dirty="0" err="1"/>
              <a:t>chí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</a:t>
            </a:r>
            <a:r>
              <a:rPr lang="vi-VN" sz="1200" dirty="0" err="1"/>
              <a:t>người</a:t>
            </a:r>
            <a:r>
              <a:rPr lang="vi-VN" sz="1200" dirty="0"/>
              <a:t> </a:t>
            </a:r>
            <a:r>
              <a:rPr lang="vi-VN" sz="1200" dirty="0" err="1"/>
              <a:t>dùng</a:t>
            </a:r>
            <a:r>
              <a:rPr lang="vi-VN" sz="1200" dirty="0"/>
              <a:t> ưu tiên </a:t>
            </a:r>
            <a:r>
              <a:rPr lang="vi-VN" sz="1200" dirty="0" err="1"/>
              <a:t>hàng</a:t>
            </a:r>
            <a:r>
              <a:rPr lang="vi-VN" sz="1200" dirty="0"/>
              <a:t> </a:t>
            </a:r>
            <a:r>
              <a:rPr lang="vi-VN" sz="1200" dirty="0" err="1"/>
              <a:t>đầu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Ngoài</a:t>
            </a:r>
            <a:r>
              <a:rPr lang="vi-VN" sz="1200" dirty="0"/>
              <a:t> ra, </a:t>
            </a:r>
            <a:r>
              <a:rPr lang="vi-VN" sz="1200" dirty="0" err="1"/>
              <a:t>người</a:t>
            </a:r>
            <a:r>
              <a:rPr lang="vi-VN" sz="1200" dirty="0"/>
              <a:t> </a:t>
            </a:r>
            <a:r>
              <a:rPr lang="vi-VN" sz="1200" dirty="0" err="1"/>
              <a:t>dùng</a:t>
            </a:r>
            <a:r>
              <a:rPr lang="vi-VN" sz="1200" dirty="0"/>
              <a:t> </a:t>
            </a:r>
            <a:r>
              <a:rPr lang="vi-VN" sz="1200" dirty="0" err="1"/>
              <a:t>cũng</a:t>
            </a:r>
            <a:r>
              <a:rPr lang="vi-VN" sz="1200" dirty="0"/>
              <a:t> mong </a:t>
            </a:r>
            <a:r>
              <a:rPr lang="vi-VN" sz="1200" dirty="0" err="1"/>
              <a:t>muốn</a:t>
            </a:r>
            <a:r>
              <a:rPr lang="vi-VN" sz="1200" dirty="0"/>
              <a:t> </a:t>
            </a:r>
            <a:r>
              <a:rPr lang="vi-VN" sz="1200" dirty="0" err="1"/>
              <a:t>ứng</a:t>
            </a:r>
            <a:r>
              <a:rPr lang="vi-VN" sz="1200" dirty="0"/>
              <a:t> </a:t>
            </a:r>
            <a:r>
              <a:rPr lang="vi-VN" sz="1200" dirty="0" err="1"/>
              <a:t>dụng</a:t>
            </a:r>
            <a:r>
              <a:rPr lang="vi-VN" sz="1200" dirty="0"/>
              <a:t> trong tương lai </a:t>
            </a:r>
            <a:r>
              <a:rPr lang="vi-VN" sz="1200" dirty="0" err="1"/>
              <a:t>tích</a:t>
            </a:r>
            <a:r>
              <a:rPr lang="vi-VN" sz="1200" dirty="0"/>
              <a:t> </a:t>
            </a:r>
            <a:r>
              <a:rPr lang="vi-VN" sz="1200" dirty="0" err="1"/>
              <a:t>hợp</a:t>
            </a:r>
            <a:r>
              <a:rPr lang="vi-VN" sz="1200" dirty="0"/>
              <a:t> AI </a:t>
            </a:r>
            <a:r>
              <a:rPr lang="vi-VN" sz="1200" dirty="0" err="1"/>
              <a:t>hỗ</a:t>
            </a:r>
            <a:r>
              <a:rPr lang="vi-VN" sz="1200" dirty="0"/>
              <a:t> </a:t>
            </a:r>
            <a:r>
              <a:rPr lang="vi-VN" sz="1200" dirty="0" err="1"/>
              <a:t>trợ</a:t>
            </a:r>
            <a:r>
              <a:rPr lang="vi-VN" sz="1200" dirty="0"/>
              <a:t> </a:t>
            </a:r>
            <a:r>
              <a:rPr lang="vi-VN" sz="1200" dirty="0" err="1"/>
              <a:t>dự</a:t>
            </a:r>
            <a:r>
              <a:rPr lang="vi-VN" sz="1200" dirty="0"/>
              <a:t> </a:t>
            </a:r>
            <a:r>
              <a:rPr lang="vi-VN" sz="1200" dirty="0" err="1"/>
              <a:t>đoán</a:t>
            </a:r>
            <a:r>
              <a:rPr lang="vi-VN" sz="1200" dirty="0"/>
              <a:t> </a:t>
            </a:r>
            <a:r>
              <a:rPr lang="vi-VN" sz="1200" dirty="0" err="1"/>
              <a:t>giá</a:t>
            </a:r>
            <a:r>
              <a:rPr lang="vi-VN" sz="1200" dirty="0"/>
              <a:t>, </a:t>
            </a:r>
            <a:r>
              <a:rPr lang="vi-VN" sz="1200" dirty="0" err="1"/>
              <a:t>hỗ</a:t>
            </a:r>
            <a:r>
              <a:rPr lang="vi-VN" sz="1200" dirty="0"/>
              <a:t> </a:t>
            </a:r>
            <a:r>
              <a:rPr lang="vi-VN" sz="1200" dirty="0" err="1"/>
              <a:t>trợ</a:t>
            </a:r>
            <a:r>
              <a:rPr lang="vi-VN" sz="1200" dirty="0"/>
              <a:t> </a:t>
            </a:r>
            <a:r>
              <a:rPr lang="vi-VN" sz="1200" dirty="0" err="1"/>
              <a:t>chatbot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cá</a:t>
            </a:r>
            <a:r>
              <a:rPr lang="vi-VN" sz="1200" dirty="0"/>
              <a:t> nhân </a:t>
            </a:r>
            <a:r>
              <a:rPr lang="vi-VN" sz="1200" dirty="0" err="1"/>
              <a:t>hóa</a:t>
            </a:r>
            <a:r>
              <a:rPr lang="vi-VN" sz="1200" dirty="0"/>
              <a:t> </a:t>
            </a:r>
            <a:r>
              <a:rPr lang="vi-VN" sz="1200" dirty="0" err="1"/>
              <a:t>trải</a:t>
            </a:r>
            <a:r>
              <a:rPr lang="vi-VN" sz="1200" dirty="0"/>
              <a:t> </a:t>
            </a:r>
            <a:r>
              <a:rPr lang="vi-VN" sz="1200" dirty="0" err="1"/>
              <a:t>nghiệm</a:t>
            </a:r>
            <a:r>
              <a:rPr lang="vi-VN" sz="1200" dirty="0"/>
              <a:t>.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endParaRPr lang="en-US" sz="1200" dirty="0"/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endParaRPr lang="vi-VN" sz="1200" dirty="0"/>
          </a:p>
        </p:txBody>
      </p:sp>
      <p:pic>
        <p:nvPicPr>
          <p:cNvPr id="4" name="image43.png">
            <a:extLst>
              <a:ext uri="{FF2B5EF4-FFF2-40B4-BE49-F238E27FC236}">
                <a16:creationId xmlns:a16="http://schemas.microsoft.com/office/drawing/2014/main" id="{92D78E9C-2C1F-4F6D-943C-9709ADE3F63F}"/>
              </a:ext>
            </a:extLst>
          </p:cNvPr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1783977" y="906649"/>
            <a:ext cx="5381886" cy="2957140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12868"/>
          </a:xfrm>
        </p:spPr>
        <p:txBody>
          <a:bodyPr wrap="square"/>
          <a:lstStyle/>
          <a:p>
            <a:pPr>
              <a:defRPr sz="2000"/>
            </a:pP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496" y="1515036"/>
            <a:ext cx="8319246" cy="4509248"/>
          </a:xfrm>
        </p:spPr>
        <p:txBody>
          <a:bodyPr wrap="square" lIns="45720" bIns="73152">
            <a:normAutofit/>
          </a:bodyPr>
          <a:lstStyle/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Hệ</a:t>
            </a:r>
            <a:r>
              <a:rPr lang="vi-VN" sz="1200" dirty="0"/>
              <a:t> </a:t>
            </a:r>
            <a:r>
              <a:rPr lang="vi-VN" sz="1200" dirty="0" err="1"/>
              <a:t>thống</a:t>
            </a:r>
            <a:r>
              <a:rPr lang="vi-VN" sz="1200" dirty="0"/>
              <a:t> </a:t>
            </a:r>
            <a:r>
              <a:rPr lang="vi-VN" sz="1200" dirty="0" err="1"/>
              <a:t>gọi</a:t>
            </a:r>
            <a:r>
              <a:rPr lang="vi-VN" sz="1200" dirty="0"/>
              <a:t> xe </a:t>
            </a:r>
            <a:r>
              <a:rPr lang="vi-VN" sz="1200" dirty="0" err="1"/>
              <a:t>phải</a:t>
            </a:r>
            <a:r>
              <a:rPr lang="vi-VN" sz="1200" dirty="0"/>
              <a:t> </a:t>
            </a:r>
            <a:r>
              <a:rPr lang="vi-VN" sz="1200" dirty="0" err="1"/>
              <a:t>xử</a:t>
            </a:r>
            <a:r>
              <a:rPr lang="vi-VN" sz="1200" dirty="0"/>
              <a:t> </a:t>
            </a:r>
            <a:r>
              <a:rPr lang="vi-VN" sz="1200" dirty="0" err="1"/>
              <a:t>lý</a:t>
            </a:r>
            <a:r>
              <a:rPr lang="vi-VN" sz="1200" dirty="0"/>
              <a:t> </a:t>
            </a:r>
            <a:r>
              <a:rPr lang="vi-VN" sz="1200" dirty="0" err="1"/>
              <a:t>đồng</a:t>
            </a:r>
            <a:r>
              <a:rPr lang="vi-VN" sz="1200" dirty="0"/>
              <a:t> </a:t>
            </a:r>
            <a:r>
              <a:rPr lang="vi-VN" sz="1200" dirty="0" err="1"/>
              <a:t>thời</a:t>
            </a:r>
            <a:r>
              <a:rPr lang="vi-VN" sz="1200" dirty="0"/>
              <a:t> </a:t>
            </a:r>
            <a:r>
              <a:rPr lang="vi-VN" sz="1200" dirty="0" err="1"/>
              <a:t>nhiều</a:t>
            </a:r>
            <a:r>
              <a:rPr lang="vi-VN" sz="1200" dirty="0"/>
              <a:t> yêu </a:t>
            </a:r>
            <a:r>
              <a:rPr lang="vi-VN" sz="1200" dirty="0" err="1"/>
              <a:t>cầu</a:t>
            </a:r>
            <a:r>
              <a:rPr lang="vi-VN" sz="1200" dirty="0"/>
              <a:t> </a:t>
            </a:r>
            <a:r>
              <a:rPr lang="vi-VN" sz="1200" dirty="0" err="1"/>
              <a:t>đặt</a:t>
            </a:r>
            <a:r>
              <a:rPr lang="vi-VN" sz="1200" dirty="0"/>
              <a:t> xe trong </a:t>
            </a:r>
            <a:r>
              <a:rPr lang="vi-VN" sz="1200" dirty="0" err="1"/>
              <a:t>thời</a:t>
            </a:r>
            <a:r>
              <a:rPr lang="vi-VN" sz="1200" dirty="0"/>
              <a:t> gian </a:t>
            </a:r>
            <a:r>
              <a:rPr lang="vi-VN" sz="1200" dirty="0" err="1"/>
              <a:t>thực</a:t>
            </a:r>
            <a:r>
              <a:rPr lang="vi-VN" sz="1200" dirty="0"/>
              <a:t> </a:t>
            </a:r>
            <a:r>
              <a:rPr lang="vi-VN" sz="1200" dirty="0" err="1"/>
              <a:t>với</a:t>
            </a:r>
            <a:r>
              <a:rPr lang="vi-VN" sz="1200" dirty="0"/>
              <a:t> </a:t>
            </a:r>
            <a:r>
              <a:rPr lang="vi-VN" sz="1200" dirty="0" err="1"/>
              <a:t>độ</a:t>
            </a:r>
            <a:r>
              <a:rPr lang="vi-VN" sz="1200" dirty="0"/>
              <a:t> </a:t>
            </a:r>
            <a:r>
              <a:rPr lang="vi-VN" sz="1200" dirty="0" err="1"/>
              <a:t>trễ</a:t>
            </a:r>
            <a:r>
              <a:rPr lang="vi-VN" sz="1200" dirty="0"/>
              <a:t> </a:t>
            </a:r>
            <a:r>
              <a:rPr lang="vi-VN" sz="1200" dirty="0" err="1"/>
              <a:t>thấp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Việc</a:t>
            </a:r>
            <a:r>
              <a:rPr lang="vi-VN" sz="1200" dirty="0"/>
              <a:t> </a:t>
            </a:r>
            <a:r>
              <a:rPr lang="vi-VN" sz="1200" dirty="0" err="1"/>
              <a:t>matching</a:t>
            </a:r>
            <a:r>
              <a:rPr lang="vi-VN" sz="1200" dirty="0"/>
              <a:t>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 </a:t>
            </a:r>
            <a:r>
              <a:rPr lang="vi-VN" sz="1200" dirty="0" err="1"/>
              <a:t>cần</a:t>
            </a:r>
            <a:r>
              <a:rPr lang="vi-VN" sz="1200" dirty="0"/>
              <a:t> </a:t>
            </a:r>
            <a:r>
              <a:rPr lang="vi-VN" sz="1200" dirty="0" err="1"/>
              <a:t>đảm</a:t>
            </a:r>
            <a:r>
              <a:rPr lang="vi-VN" sz="1200" dirty="0"/>
              <a:t> </a:t>
            </a:r>
            <a:r>
              <a:rPr lang="vi-VN" sz="1200" dirty="0" err="1"/>
              <a:t>bảo</a:t>
            </a:r>
            <a:r>
              <a:rPr lang="vi-VN" sz="1200" dirty="0"/>
              <a:t> </a:t>
            </a:r>
            <a:r>
              <a:rPr lang="vi-VN" sz="1200" dirty="0" err="1"/>
              <a:t>yếu</a:t>
            </a:r>
            <a:r>
              <a:rPr lang="vi-VN" sz="1200" dirty="0"/>
              <a:t> </a:t>
            </a:r>
            <a:r>
              <a:rPr lang="vi-VN" sz="1200" dirty="0" err="1"/>
              <a:t>tố</a:t>
            </a:r>
            <a:r>
              <a:rPr lang="vi-VN" sz="1200" dirty="0"/>
              <a:t> </a:t>
            </a:r>
            <a:r>
              <a:rPr lang="vi-VN" sz="1200" dirty="0" err="1"/>
              <a:t>khoảng</a:t>
            </a:r>
            <a:r>
              <a:rPr lang="vi-VN" sz="1200" dirty="0"/>
              <a:t> </a:t>
            </a:r>
            <a:r>
              <a:rPr lang="vi-VN" sz="1200" dirty="0" err="1"/>
              <a:t>cách</a:t>
            </a:r>
            <a:r>
              <a:rPr lang="vi-VN" sz="1200" dirty="0"/>
              <a:t>, </a:t>
            </a:r>
            <a:r>
              <a:rPr lang="vi-VN" sz="1200" dirty="0" err="1"/>
              <a:t>tỷ</a:t>
            </a:r>
            <a:r>
              <a:rPr lang="vi-VN" sz="1200" dirty="0"/>
              <a:t> </a:t>
            </a:r>
            <a:r>
              <a:rPr lang="vi-VN" sz="1200" dirty="0" err="1"/>
              <a:t>lệ</a:t>
            </a:r>
            <a:r>
              <a:rPr lang="vi-VN" sz="1200" dirty="0"/>
              <a:t> </a:t>
            </a:r>
            <a:r>
              <a:rPr lang="vi-VN" sz="1200" dirty="0" err="1"/>
              <a:t>chấp</a:t>
            </a:r>
            <a:r>
              <a:rPr lang="vi-VN" sz="1200" dirty="0"/>
              <a:t> </a:t>
            </a:r>
            <a:r>
              <a:rPr lang="vi-VN" sz="1200" dirty="0" err="1"/>
              <a:t>nhận</a:t>
            </a:r>
            <a:r>
              <a:rPr lang="vi-VN" sz="1200" dirty="0"/>
              <a:t> </a:t>
            </a:r>
            <a:r>
              <a:rPr lang="vi-VN" sz="1200" dirty="0" err="1"/>
              <a:t>chuyến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trạng</a:t>
            </a:r>
            <a:r>
              <a:rPr lang="vi-VN" sz="1200" dirty="0"/>
              <a:t> </a:t>
            </a:r>
            <a:r>
              <a:rPr lang="vi-VN" sz="1200" dirty="0" err="1"/>
              <a:t>thái</a:t>
            </a:r>
            <a:r>
              <a:rPr lang="vi-VN" sz="1200" dirty="0"/>
              <a:t> </a:t>
            </a:r>
            <a:r>
              <a:rPr lang="vi-VN" sz="1200" dirty="0" err="1"/>
              <a:t>hoạt</a:t>
            </a:r>
            <a:r>
              <a:rPr lang="vi-VN" sz="1200" dirty="0"/>
              <a:t> </a:t>
            </a:r>
            <a:r>
              <a:rPr lang="vi-VN" sz="1200" dirty="0" err="1"/>
              <a:t>động</a:t>
            </a:r>
            <a:r>
              <a:rPr lang="vi-VN" sz="1200" dirty="0"/>
              <a:t> </a:t>
            </a:r>
            <a:r>
              <a:rPr lang="vi-VN" sz="1200" dirty="0" err="1"/>
              <a:t>của</a:t>
            </a:r>
            <a:r>
              <a:rPr lang="vi-VN" sz="1200" dirty="0"/>
              <a:t>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Hệ</a:t>
            </a:r>
            <a:r>
              <a:rPr lang="vi-VN" sz="1200" dirty="0"/>
              <a:t> </a:t>
            </a:r>
            <a:r>
              <a:rPr lang="vi-VN" sz="1200" dirty="0" err="1"/>
              <a:t>thống</a:t>
            </a:r>
            <a:r>
              <a:rPr lang="vi-VN" sz="1200" dirty="0"/>
              <a:t> thanh </a:t>
            </a:r>
            <a:r>
              <a:rPr lang="vi-VN" sz="1200" dirty="0" err="1"/>
              <a:t>toán</a:t>
            </a:r>
            <a:r>
              <a:rPr lang="vi-VN" sz="1200" dirty="0"/>
              <a:t> </a:t>
            </a:r>
            <a:r>
              <a:rPr lang="vi-VN" sz="1200" dirty="0" err="1"/>
              <a:t>cần</a:t>
            </a:r>
            <a:r>
              <a:rPr lang="vi-VN" sz="1200" dirty="0"/>
              <a:t> </a:t>
            </a:r>
            <a:r>
              <a:rPr lang="vi-VN" sz="1200" dirty="0" err="1"/>
              <a:t>đảm</a:t>
            </a:r>
            <a:r>
              <a:rPr lang="vi-VN" sz="1200" dirty="0"/>
              <a:t> </a:t>
            </a:r>
            <a:r>
              <a:rPr lang="vi-VN" sz="1200" dirty="0" err="1"/>
              <a:t>bảo</a:t>
            </a:r>
            <a:r>
              <a:rPr lang="vi-VN" sz="1200" dirty="0"/>
              <a:t> </a:t>
            </a:r>
            <a:r>
              <a:rPr lang="vi-VN" sz="1200" dirty="0" err="1"/>
              <a:t>tính</a:t>
            </a:r>
            <a:r>
              <a:rPr lang="vi-VN" sz="1200" dirty="0"/>
              <a:t> </a:t>
            </a:r>
            <a:r>
              <a:rPr lang="vi-VN" sz="1200" dirty="0" err="1"/>
              <a:t>nhất</a:t>
            </a:r>
            <a:r>
              <a:rPr lang="vi-VN" sz="1200" dirty="0"/>
              <a:t> </a:t>
            </a:r>
            <a:r>
              <a:rPr lang="vi-VN" sz="1200" dirty="0" err="1"/>
              <a:t>quán</a:t>
            </a:r>
            <a:r>
              <a:rPr lang="vi-VN" sz="1200" dirty="0"/>
              <a:t> </a:t>
            </a:r>
            <a:r>
              <a:rPr lang="vi-VN" sz="1200" dirty="0" err="1"/>
              <a:t>dữ</a:t>
            </a:r>
            <a:r>
              <a:rPr lang="vi-VN" sz="1200" dirty="0"/>
              <a:t> </a:t>
            </a:r>
            <a:r>
              <a:rPr lang="vi-VN" sz="1200" dirty="0" err="1"/>
              <a:t>liệu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chống</a:t>
            </a:r>
            <a:r>
              <a:rPr lang="vi-VN" sz="1200" dirty="0"/>
              <a:t> </a:t>
            </a:r>
            <a:r>
              <a:rPr lang="vi-VN" sz="1200" dirty="0" err="1"/>
              <a:t>trùng</a:t>
            </a:r>
            <a:r>
              <a:rPr lang="vi-VN" sz="1200" dirty="0"/>
              <a:t> </a:t>
            </a:r>
            <a:r>
              <a:rPr lang="vi-VN" sz="1200" dirty="0" err="1"/>
              <a:t>lặp</a:t>
            </a:r>
            <a:r>
              <a:rPr lang="vi-VN" sz="1200" dirty="0"/>
              <a:t> giao </a:t>
            </a:r>
            <a:r>
              <a:rPr lang="vi-VN" sz="1200" dirty="0" err="1"/>
              <a:t>dịch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Ngoài</a:t>
            </a:r>
            <a:r>
              <a:rPr lang="vi-VN" sz="1200" dirty="0"/>
              <a:t> ra, </a:t>
            </a:r>
            <a:r>
              <a:rPr lang="vi-VN" sz="1200" dirty="0" err="1"/>
              <a:t>nền</a:t>
            </a:r>
            <a:r>
              <a:rPr lang="vi-VN" sz="1200" dirty="0"/>
              <a:t> </a:t>
            </a:r>
            <a:r>
              <a:rPr lang="vi-VN" sz="1200" dirty="0" err="1"/>
              <a:t>tảng</a:t>
            </a:r>
            <a:r>
              <a:rPr lang="vi-VN" sz="1200" dirty="0"/>
              <a:t> </a:t>
            </a:r>
            <a:r>
              <a:rPr lang="vi-VN" sz="1200" dirty="0" err="1"/>
              <a:t>còn</a:t>
            </a:r>
            <a:r>
              <a:rPr lang="vi-VN" sz="1200" dirty="0"/>
              <a:t> </a:t>
            </a:r>
            <a:r>
              <a:rPr lang="vi-VN" sz="1200" dirty="0" err="1"/>
              <a:t>cần</a:t>
            </a:r>
            <a:r>
              <a:rPr lang="vi-VN" sz="1200" dirty="0"/>
              <a:t> </a:t>
            </a:r>
            <a:r>
              <a:rPr lang="vi-VN" sz="1200" dirty="0" err="1"/>
              <a:t>monitoring</a:t>
            </a:r>
            <a:r>
              <a:rPr lang="vi-VN" sz="1200" dirty="0"/>
              <a:t>, </a:t>
            </a:r>
            <a:r>
              <a:rPr lang="vi-VN" sz="1200" dirty="0" err="1"/>
              <a:t>logging</a:t>
            </a:r>
            <a:r>
              <a:rPr lang="vi-VN" sz="1200" dirty="0"/>
              <a:t>, </a:t>
            </a:r>
            <a:r>
              <a:rPr lang="vi-VN" sz="1200" dirty="0" err="1"/>
              <a:t>fault</a:t>
            </a:r>
            <a:r>
              <a:rPr lang="vi-VN" sz="1200" dirty="0"/>
              <a:t> </a:t>
            </a:r>
            <a:r>
              <a:rPr lang="vi-VN" sz="1200" dirty="0" err="1"/>
              <a:t>tolerance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khả</a:t>
            </a:r>
            <a:r>
              <a:rPr lang="vi-VN" sz="1200" dirty="0"/>
              <a:t> năng </a:t>
            </a:r>
            <a:r>
              <a:rPr lang="vi-VN" sz="1200" dirty="0" err="1"/>
              <a:t>scale</a:t>
            </a:r>
            <a:r>
              <a:rPr lang="vi-VN" sz="1200" dirty="0"/>
              <a:t> ngang khi </a:t>
            </a:r>
            <a:r>
              <a:rPr lang="vi-VN" sz="1200" dirty="0" err="1"/>
              <a:t>lượng</a:t>
            </a:r>
            <a:r>
              <a:rPr lang="vi-VN" sz="1200" dirty="0"/>
              <a:t> </a:t>
            </a:r>
            <a:r>
              <a:rPr lang="vi-VN" sz="1200" dirty="0" err="1"/>
              <a:t>người</a:t>
            </a:r>
            <a:r>
              <a:rPr lang="vi-VN" sz="1200" dirty="0"/>
              <a:t> </a:t>
            </a:r>
            <a:r>
              <a:rPr lang="vi-VN" sz="1200" dirty="0" err="1"/>
              <a:t>dùng</a:t>
            </a:r>
            <a:r>
              <a:rPr lang="vi-VN" sz="1200" dirty="0"/>
              <a:t> tăng </a:t>
            </a:r>
            <a:r>
              <a:rPr lang="vi-VN" sz="1200" dirty="0" err="1"/>
              <a:t>mạnh</a:t>
            </a:r>
            <a:r>
              <a:rPr lang="vi-VN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85113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12868"/>
          </a:xfrm>
        </p:spPr>
        <p:txBody>
          <a:bodyPr wrap="square"/>
          <a:lstStyle/>
          <a:p>
            <a:pPr>
              <a:defRPr sz="2000"/>
            </a:pP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496" y="1515036"/>
            <a:ext cx="8319246" cy="4509248"/>
          </a:xfrm>
        </p:spPr>
        <p:txBody>
          <a:bodyPr wrap="square" lIns="45720" bIns="73152">
            <a:normAutofit/>
          </a:bodyPr>
          <a:lstStyle/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Xây </a:t>
            </a:r>
            <a:r>
              <a:rPr lang="vi-VN" sz="1200" dirty="0" err="1"/>
              <a:t>dựng</a:t>
            </a:r>
            <a:r>
              <a:rPr lang="vi-VN" sz="1200" dirty="0"/>
              <a:t> </a:t>
            </a:r>
            <a:r>
              <a:rPr lang="vi-VN" sz="1200" dirty="0" err="1"/>
              <a:t>nền</a:t>
            </a:r>
            <a:r>
              <a:rPr lang="vi-VN" sz="1200" dirty="0"/>
              <a:t> </a:t>
            </a:r>
            <a:r>
              <a:rPr lang="vi-VN" sz="1200" dirty="0" err="1"/>
              <a:t>tảng</a:t>
            </a:r>
            <a:r>
              <a:rPr lang="vi-VN" sz="1200" dirty="0"/>
              <a:t> </a:t>
            </a:r>
            <a:r>
              <a:rPr lang="vi-VN" sz="1200" dirty="0" err="1"/>
              <a:t>gọi</a:t>
            </a:r>
            <a:r>
              <a:rPr lang="vi-VN" sz="1200" dirty="0"/>
              <a:t> xe công </a:t>
            </a:r>
            <a:r>
              <a:rPr lang="vi-VN" sz="1200" dirty="0" err="1"/>
              <a:t>nghệ</a:t>
            </a:r>
            <a:r>
              <a:rPr lang="vi-VN" sz="1200" dirty="0"/>
              <a:t> </a:t>
            </a:r>
            <a:r>
              <a:rPr lang="vi-VN" sz="1200" dirty="0" err="1"/>
              <a:t>hoàn</a:t>
            </a:r>
            <a:r>
              <a:rPr lang="vi-VN" sz="1200" dirty="0"/>
              <a:t> </a:t>
            </a:r>
            <a:r>
              <a:rPr lang="vi-VN" sz="1200" dirty="0" err="1"/>
              <a:t>chỉnh</a:t>
            </a:r>
            <a:r>
              <a:rPr lang="vi-VN" sz="1200" dirty="0"/>
              <a:t> theo mô </a:t>
            </a:r>
            <a:r>
              <a:rPr lang="vi-VN" sz="1200" dirty="0" err="1"/>
              <a:t>hình</a:t>
            </a:r>
            <a:r>
              <a:rPr lang="vi-VN" sz="1200" dirty="0"/>
              <a:t> </a:t>
            </a:r>
            <a:r>
              <a:rPr lang="vi-VN" sz="1200" dirty="0" err="1"/>
              <a:t>microservices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Hỗ</a:t>
            </a:r>
            <a:r>
              <a:rPr lang="vi-VN" sz="1200" dirty="0"/>
              <a:t> </a:t>
            </a:r>
            <a:r>
              <a:rPr lang="vi-VN" sz="1200" dirty="0" err="1"/>
              <a:t>trợ</a:t>
            </a:r>
            <a:r>
              <a:rPr lang="vi-VN" sz="1200" dirty="0"/>
              <a:t> </a:t>
            </a:r>
            <a:r>
              <a:rPr lang="vi-VN" sz="1200" dirty="0" err="1"/>
              <a:t>đầy</a:t>
            </a:r>
            <a:r>
              <a:rPr lang="vi-VN" sz="1200" dirty="0"/>
              <a:t> </a:t>
            </a:r>
            <a:r>
              <a:rPr lang="vi-VN" sz="1200" dirty="0" err="1"/>
              <a:t>đủ</a:t>
            </a:r>
            <a:r>
              <a:rPr lang="vi-VN" sz="1200" dirty="0"/>
              <a:t> </a:t>
            </a:r>
            <a:r>
              <a:rPr lang="vi-VN" sz="1200" dirty="0" err="1"/>
              <a:t>các</a:t>
            </a:r>
            <a:r>
              <a:rPr lang="vi-VN" sz="1200" dirty="0"/>
              <a:t> vai </a:t>
            </a:r>
            <a:r>
              <a:rPr lang="vi-VN" sz="1200" dirty="0" err="1"/>
              <a:t>trò</a:t>
            </a:r>
            <a:r>
              <a:rPr lang="vi-VN" sz="1200" dirty="0"/>
              <a:t> </a:t>
            </a:r>
            <a:r>
              <a:rPr lang="vi-VN" sz="1200" dirty="0" err="1"/>
              <a:t>khách</a:t>
            </a:r>
            <a:r>
              <a:rPr lang="vi-VN" sz="1200" dirty="0"/>
              <a:t> </a:t>
            </a:r>
            <a:r>
              <a:rPr lang="vi-VN" sz="1200" dirty="0" err="1"/>
              <a:t>hàng</a:t>
            </a:r>
            <a:r>
              <a:rPr lang="vi-VN" sz="1200" dirty="0"/>
              <a:t>,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quản</a:t>
            </a:r>
            <a:r>
              <a:rPr lang="vi-VN" sz="1200" dirty="0"/>
              <a:t> </a:t>
            </a:r>
            <a:r>
              <a:rPr lang="vi-VN" sz="1200" dirty="0" err="1"/>
              <a:t>trị</a:t>
            </a:r>
            <a:r>
              <a:rPr lang="vi-VN" sz="1200" dirty="0"/>
              <a:t> viên.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Tích</a:t>
            </a:r>
            <a:r>
              <a:rPr lang="vi-VN" sz="1200" dirty="0"/>
              <a:t> </a:t>
            </a:r>
            <a:r>
              <a:rPr lang="vi-VN" sz="1200" dirty="0" err="1"/>
              <a:t>hợp</a:t>
            </a:r>
            <a:r>
              <a:rPr lang="vi-VN" sz="1200" dirty="0"/>
              <a:t> AI </a:t>
            </a:r>
            <a:r>
              <a:rPr lang="vi-VN" sz="1200" dirty="0" err="1"/>
              <a:t>hỗ</a:t>
            </a:r>
            <a:r>
              <a:rPr lang="vi-VN" sz="1200" dirty="0"/>
              <a:t> </a:t>
            </a:r>
            <a:r>
              <a:rPr lang="vi-VN" sz="1200" dirty="0" err="1"/>
              <a:t>trợ</a:t>
            </a:r>
            <a:r>
              <a:rPr lang="vi-VN" sz="1200" dirty="0"/>
              <a:t> ETA </a:t>
            </a:r>
            <a:r>
              <a:rPr lang="vi-VN" sz="1200" dirty="0" err="1"/>
              <a:t>prediction</a:t>
            </a:r>
            <a:r>
              <a:rPr lang="vi-VN" sz="1200" dirty="0"/>
              <a:t>, </a:t>
            </a:r>
            <a:r>
              <a:rPr lang="vi-VN" sz="1200" dirty="0" err="1"/>
              <a:t>surge</a:t>
            </a:r>
            <a:r>
              <a:rPr lang="vi-VN" sz="1200" dirty="0"/>
              <a:t> </a:t>
            </a:r>
            <a:r>
              <a:rPr lang="vi-VN" sz="1200" dirty="0" err="1"/>
              <a:t>pricing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chatbot</a:t>
            </a:r>
            <a:r>
              <a:rPr lang="vi-VN" sz="1200" dirty="0"/>
              <a:t> RAG.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Triển</a:t>
            </a:r>
            <a:r>
              <a:rPr lang="vi-VN" sz="1200" dirty="0"/>
              <a:t> khai </a:t>
            </a:r>
            <a:r>
              <a:rPr lang="vi-VN" sz="1200" dirty="0" err="1"/>
              <a:t>hệ</a:t>
            </a:r>
            <a:r>
              <a:rPr lang="vi-VN" sz="1200" dirty="0"/>
              <a:t> </a:t>
            </a:r>
            <a:r>
              <a:rPr lang="vi-VN" sz="1200" dirty="0" err="1"/>
              <a:t>thống</a:t>
            </a:r>
            <a:r>
              <a:rPr lang="vi-VN" sz="1200" dirty="0"/>
              <a:t> </a:t>
            </a:r>
            <a:r>
              <a:rPr lang="vi-VN" sz="1200" dirty="0" err="1"/>
              <a:t>thực</a:t>
            </a:r>
            <a:r>
              <a:rPr lang="vi-VN" sz="1200" dirty="0"/>
              <a:t> </a:t>
            </a:r>
            <a:r>
              <a:rPr lang="vi-VN" sz="1200" dirty="0" err="1"/>
              <a:t>tế</a:t>
            </a:r>
            <a:r>
              <a:rPr lang="vi-VN" sz="1200" dirty="0"/>
              <a:t> </a:t>
            </a:r>
            <a:r>
              <a:rPr lang="vi-VN" sz="1200" dirty="0" err="1"/>
              <a:t>bằng</a:t>
            </a:r>
            <a:r>
              <a:rPr lang="vi-VN" sz="1200" dirty="0"/>
              <a:t> </a:t>
            </a:r>
            <a:r>
              <a:rPr lang="vi-VN" sz="1200" dirty="0" err="1"/>
              <a:t>Docker</a:t>
            </a:r>
            <a:r>
              <a:rPr lang="vi-VN" sz="1200" dirty="0"/>
              <a:t> </a:t>
            </a:r>
            <a:r>
              <a:rPr lang="vi-VN" sz="1200" dirty="0" err="1"/>
              <a:t>Swarm</a:t>
            </a:r>
            <a:r>
              <a:rPr lang="vi-VN" sz="1200" dirty="0"/>
              <a:t> trên </a:t>
            </a:r>
            <a:r>
              <a:rPr lang="vi-VN" sz="1200" dirty="0" err="1"/>
              <a:t>hạ</a:t>
            </a:r>
            <a:r>
              <a:rPr lang="vi-VN" sz="1200" dirty="0"/>
              <a:t> </a:t>
            </a:r>
            <a:r>
              <a:rPr lang="vi-VN" sz="1200" dirty="0" err="1"/>
              <a:t>tầng</a:t>
            </a:r>
            <a:r>
              <a:rPr lang="vi-VN" sz="1200" dirty="0"/>
              <a:t> AWS.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Ứng</a:t>
            </a:r>
            <a:r>
              <a:rPr lang="vi-VN" sz="1200" dirty="0"/>
              <a:t> </a:t>
            </a:r>
            <a:r>
              <a:rPr lang="vi-VN" sz="1200" dirty="0" err="1"/>
              <a:t>dụng</a:t>
            </a:r>
            <a:r>
              <a:rPr lang="vi-VN" sz="1200" dirty="0"/>
              <a:t> </a:t>
            </a:r>
            <a:r>
              <a:rPr lang="vi-VN" sz="1200" dirty="0" err="1"/>
              <a:t>monitoring</a:t>
            </a:r>
            <a:r>
              <a:rPr lang="vi-VN" sz="1200" dirty="0"/>
              <a:t>, CI/CD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realtime</a:t>
            </a:r>
            <a:r>
              <a:rPr lang="vi-VN" sz="1200" dirty="0"/>
              <a:t> </a:t>
            </a:r>
            <a:r>
              <a:rPr lang="vi-VN" sz="1200" dirty="0" err="1"/>
              <a:t>communication</a:t>
            </a:r>
            <a:r>
              <a:rPr lang="vi-VN" sz="1200" dirty="0"/>
              <a:t> trong môi </a:t>
            </a:r>
            <a:r>
              <a:rPr lang="vi-VN" sz="1200" dirty="0" err="1"/>
              <a:t>trường</a:t>
            </a:r>
            <a:r>
              <a:rPr lang="vi-VN" sz="1200" dirty="0"/>
              <a:t> </a:t>
            </a:r>
            <a:r>
              <a:rPr lang="vi-VN" sz="1200" dirty="0" err="1"/>
              <a:t>production</a:t>
            </a:r>
            <a:r>
              <a:rPr lang="vi-VN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36412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uc journey roles en</a:t>
            </a:r>
          </a:p>
        </p:txBody>
      </p:sp>
      <p:pic>
        <p:nvPicPr>
          <p:cNvPr id="3" name="Picture 2" descr="uc_journey_rol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3587"/>
            <a:ext cx="8321040" cy="35440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3. Phân tích và thiết kế nghiệp vụ (DDD)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 marL="0" indent="0">
              <a:spcAft>
                <a:spcPts val="300"/>
              </a:spcAft>
              <a:buNone/>
              <a:defRPr sz="1100"/>
            </a:pPr>
            <a:r>
              <a:rPr dirty="0" err="1"/>
              <a:t>Nên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vẽ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thuyết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ddd subdomain map</a:t>
            </a:r>
          </a:p>
        </p:txBody>
      </p:sp>
      <p:pic>
        <p:nvPicPr>
          <p:cNvPr id="3" name="Picture 2" descr="ddd_subdomai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290" y="804672"/>
            <a:ext cx="7537419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ddd bc service map</a:t>
            </a:r>
          </a:p>
        </p:txBody>
      </p:sp>
      <p:pic>
        <p:nvPicPr>
          <p:cNvPr id="3" name="Picture 2" descr="ddd_bc_servi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9681"/>
            <a:ext cx="8321040" cy="33118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erd core bounded contexts</a:t>
            </a:r>
          </a:p>
        </p:txBody>
      </p:sp>
      <p:pic>
        <p:nvPicPr>
          <p:cNvPr id="3" name="Picture 2" descr="erd_core_bounded_contex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2" y="804672"/>
            <a:ext cx="5659075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4. Phân tích và thiết kế chức năng (Use case diagram)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 marL="0" indent="0">
              <a:spcAft>
                <a:spcPts val="300"/>
              </a:spcAft>
              <a:buNone/>
              <a:defRPr sz="1100"/>
            </a:pPr>
            <a:r>
              <a:rPr dirty="0" err="1"/>
              <a:t>Nên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vẽ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thuyết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bpmn booking swimlanes</a:t>
            </a:r>
          </a:p>
        </p:txBody>
      </p:sp>
      <p:pic>
        <p:nvPicPr>
          <p:cNvPr id="3" name="Picture 2" descr="bpmn_booking_swim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196" y="804672"/>
            <a:ext cx="3909607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uc journey roles en</a:t>
            </a:r>
          </a:p>
        </p:txBody>
      </p:sp>
      <p:pic>
        <p:nvPicPr>
          <p:cNvPr id="3" name="Picture 2" descr="uc_journey_rol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3587"/>
            <a:ext cx="8321040" cy="35440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12868"/>
          </a:xfrm>
        </p:spPr>
        <p:txBody>
          <a:bodyPr wrap="square"/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496" y="1515036"/>
            <a:ext cx="8319246" cy="4509248"/>
          </a:xfrm>
        </p:spPr>
        <p:txBody>
          <a:bodyPr wrap="square" lIns="45720" bIns="73152">
            <a:normAutofit/>
          </a:bodyPr>
          <a:lstStyle/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Hệ</a:t>
            </a:r>
            <a:r>
              <a:rPr lang="vi-VN" sz="1200" dirty="0"/>
              <a:t> </a:t>
            </a:r>
            <a:r>
              <a:rPr lang="vi-VN" sz="1200" dirty="0" err="1"/>
              <a:t>thống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xây </a:t>
            </a:r>
            <a:r>
              <a:rPr lang="vi-VN" sz="1200" dirty="0" err="1"/>
              <a:t>dựng</a:t>
            </a:r>
            <a:r>
              <a:rPr lang="vi-VN" sz="1200" dirty="0"/>
              <a:t> theo mô </a:t>
            </a:r>
            <a:r>
              <a:rPr lang="vi-VN" sz="1200" dirty="0" err="1"/>
              <a:t>hình</a:t>
            </a:r>
            <a:r>
              <a:rPr lang="vi-VN" sz="1200" dirty="0"/>
              <a:t> </a:t>
            </a:r>
            <a:r>
              <a:rPr lang="vi-VN" sz="1200" dirty="0" err="1"/>
              <a:t>Microservices</a:t>
            </a:r>
            <a:r>
              <a:rPr lang="vi-VN" sz="1200" dirty="0"/>
              <a:t> </a:t>
            </a:r>
            <a:r>
              <a:rPr lang="vi-VN" sz="1200" dirty="0" err="1"/>
              <a:t>Architecture</a:t>
            </a:r>
            <a:r>
              <a:rPr lang="vi-VN" sz="1200" dirty="0"/>
              <a:t> </a:t>
            </a:r>
            <a:r>
              <a:rPr lang="vi-VN" sz="1200" dirty="0" err="1"/>
              <a:t>nhằm</a:t>
            </a:r>
            <a:r>
              <a:rPr lang="vi-VN" sz="1200" dirty="0"/>
              <a:t> tăng </a:t>
            </a:r>
            <a:r>
              <a:rPr lang="vi-VN" sz="1200" dirty="0" err="1"/>
              <a:t>khả</a:t>
            </a:r>
            <a:r>
              <a:rPr lang="vi-VN" sz="1200" dirty="0"/>
              <a:t> năng </a:t>
            </a:r>
            <a:r>
              <a:rPr lang="vi-VN" sz="1200" dirty="0" err="1"/>
              <a:t>mở</a:t>
            </a:r>
            <a:r>
              <a:rPr lang="vi-VN" sz="1200" dirty="0"/>
              <a:t> </a:t>
            </a:r>
            <a:r>
              <a:rPr lang="vi-VN" sz="1200" dirty="0" err="1"/>
              <a:t>rộng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giảm</a:t>
            </a:r>
            <a:r>
              <a:rPr lang="vi-VN" sz="1200" dirty="0"/>
              <a:t> </a:t>
            </a:r>
            <a:r>
              <a:rPr lang="vi-VN" sz="1200" dirty="0" err="1"/>
              <a:t>coupling</a:t>
            </a:r>
            <a:r>
              <a:rPr lang="vi-VN" sz="1200" dirty="0"/>
              <a:t> </a:t>
            </a:r>
            <a:r>
              <a:rPr lang="vi-VN" sz="1200" dirty="0" err="1"/>
              <a:t>giữa</a:t>
            </a:r>
            <a:r>
              <a:rPr lang="vi-VN" sz="1200" dirty="0"/>
              <a:t> </a:t>
            </a:r>
            <a:r>
              <a:rPr lang="vi-VN" sz="1200" dirty="0" err="1"/>
              <a:t>các</a:t>
            </a:r>
            <a:r>
              <a:rPr lang="vi-VN" sz="1200" dirty="0"/>
              <a:t> </a:t>
            </a:r>
            <a:r>
              <a:rPr lang="vi-VN" sz="1200" dirty="0" err="1"/>
              <a:t>module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Frontend</a:t>
            </a:r>
            <a:r>
              <a:rPr lang="vi-VN" sz="1200" dirty="0"/>
              <a:t> </a:t>
            </a:r>
            <a:r>
              <a:rPr lang="vi-VN" sz="1200" dirty="0" err="1"/>
              <a:t>ReactJS</a:t>
            </a:r>
            <a:r>
              <a:rPr lang="vi-VN" sz="1200" dirty="0"/>
              <a:t> giao </a:t>
            </a:r>
            <a:r>
              <a:rPr lang="vi-VN" sz="1200" dirty="0" err="1"/>
              <a:t>tiếp</a:t>
            </a:r>
            <a:r>
              <a:rPr lang="vi-VN" sz="1200" dirty="0"/>
              <a:t> thông qua API </a:t>
            </a:r>
            <a:r>
              <a:rPr lang="vi-VN" sz="1200" dirty="0" err="1"/>
              <a:t>Gateway</a:t>
            </a:r>
            <a:r>
              <a:rPr lang="vi-VN" sz="1200" dirty="0"/>
              <a:t> </a:t>
            </a:r>
            <a:r>
              <a:rPr lang="vi-VN" sz="1200" dirty="0" err="1"/>
              <a:t>để</a:t>
            </a:r>
            <a:r>
              <a:rPr lang="vi-VN" sz="1200" dirty="0"/>
              <a:t> </a:t>
            </a:r>
            <a:r>
              <a:rPr lang="vi-VN" sz="1200" dirty="0" err="1"/>
              <a:t>quản</a:t>
            </a:r>
            <a:r>
              <a:rPr lang="vi-VN" sz="1200" dirty="0"/>
              <a:t> </a:t>
            </a:r>
            <a:r>
              <a:rPr lang="vi-VN" sz="1200" dirty="0" err="1"/>
              <a:t>lý</a:t>
            </a:r>
            <a:r>
              <a:rPr lang="vi-VN" sz="1200" dirty="0"/>
              <a:t> </a:t>
            </a:r>
            <a:r>
              <a:rPr lang="vi-VN" sz="1200" dirty="0" err="1"/>
              <a:t>routing</a:t>
            </a:r>
            <a:r>
              <a:rPr lang="vi-VN" sz="1200" dirty="0"/>
              <a:t>, </a:t>
            </a:r>
            <a:r>
              <a:rPr lang="vi-VN" sz="1200" dirty="0" err="1"/>
              <a:t>authentication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aggregation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Các</a:t>
            </a:r>
            <a:r>
              <a:rPr lang="vi-VN" sz="1200" dirty="0"/>
              <a:t> </a:t>
            </a:r>
            <a:r>
              <a:rPr lang="vi-VN" sz="1200" dirty="0" err="1"/>
              <a:t>business</a:t>
            </a:r>
            <a:r>
              <a:rPr lang="vi-VN" sz="1200" dirty="0"/>
              <a:t> </a:t>
            </a:r>
            <a:r>
              <a:rPr lang="vi-VN" sz="1200" dirty="0" err="1"/>
              <a:t>service</a:t>
            </a:r>
            <a:r>
              <a:rPr lang="vi-VN" sz="1200" dirty="0"/>
              <a:t> giao </a:t>
            </a:r>
            <a:r>
              <a:rPr lang="vi-VN" sz="1200" dirty="0" err="1"/>
              <a:t>tiếp</a:t>
            </a:r>
            <a:r>
              <a:rPr lang="vi-VN" sz="1200" dirty="0"/>
              <a:t> </a:t>
            </a:r>
            <a:r>
              <a:rPr lang="vi-VN" sz="1200" dirty="0" err="1"/>
              <a:t>với</a:t>
            </a:r>
            <a:r>
              <a:rPr lang="vi-VN" sz="1200" dirty="0"/>
              <a:t> nhau thông qua HTTP, </a:t>
            </a:r>
            <a:r>
              <a:rPr lang="vi-VN" sz="1200" dirty="0" err="1"/>
              <a:t>gRPC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RabbitMQ</a:t>
            </a:r>
            <a:r>
              <a:rPr lang="vi-VN" sz="1200" dirty="0"/>
              <a:t> </a:t>
            </a:r>
            <a:r>
              <a:rPr lang="vi-VN" sz="1200" dirty="0" err="1"/>
              <a:t>event</a:t>
            </a:r>
            <a:r>
              <a:rPr lang="vi-VN" sz="1200" dirty="0"/>
              <a:t> </a:t>
            </a:r>
            <a:r>
              <a:rPr lang="vi-VN" sz="1200" dirty="0" err="1"/>
              <a:t>bus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Redis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</a:t>
            </a:r>
            <a:r>
              <a:rPr lang="vi-VN" sz="1200" dirty="0" err="1"/>
              <a:t>sử</a:t>
            </a:r>
            <a:r>
              <a:rPr lang="vi-VN" sz="1200" dirty="0"/>
              <a:t> </a:t>
            </a:r>
            <a:r>
              <a:rPr lang="vi-VN" sz="1200" dirty="0" err="1"/>
              <a:t>dụng</a:t>
            </a:r>
            <a:r>
              <a:rPr lang="vi-VN" sz="1200" dirty="0"/>
              <a:t> cho </a:t>
            </a:r>
            <a:r>
              <a:rPr lang="vi-VN" sz="1200" dirty="0" err="1"/>
              <a:t>caching</a:t>
            </a:r>
            <a:r>
              <a:rPr lang="vi-VN" sz="1200" dirty="0"/>
              <a:t>, </a:t>
            </a:r>
            <a:r>
              <a:rPr lang="vi-VN" sz="1200" dirty="0" err="1"/>
              <a:t>session</a:t>
            </a:r>
            <a:r>
              <a:rPr lang="vi-VN" sz="1200" dirty="0"/>
              <a:t> </a:t>
            </a:r>
            <a:r>
              <a:rPr lang="vi-VN" sz="1200" dirty="0" err="1"/>
              <a:t>management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geospatial</a:t>
            </a:r>
            <a:r>
              <a:rPr lang="vi-VN" sz="1200" dirty="0"/>
              <a:t> </a:t>
            </a:r>
            <a:r>
              <a:rPr lang="vi-VN" sz="1200" dirty="0" err="1"/>
              <a:t>lookup</a:t>
            </a:r>
            <a:r>
              <a:rPr lang="vi-VN" sz="1200" dirty="0"/>
              <a:t>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 </a:t>
            </a:r>
            <a:r>
              <a:rPr lang="vi-VN" sz="1200" dirty="0" err="1"/>
              <a:t>gần</a:t>
            </a:r>
            <a:r>
              <a:rPr lang="vi-VN" sz="1200" dirty="0"/>
              <a:t> </a:t>
            </a:r>
            <a:r>
              <a:rPr lang="vi-VN" sz="1200" dirty="0" err="1"/>
              <a:t>nhất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AI </a:t>
            </a:r>
            <a:r>
              <a:rPr lang="vi-VN" sz="1200" dirty="0" err="1"/>
              <a:t>Service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xây </a:t>
            </a:r>
            <a:r>
              <a:rPr lang="vi-VN" sz="1200" dirty="0" err="1"/>
              <a:t>dựng</a:t>
            </a:r>
            <a:r>
              <a:rPr lang="vi-VN" sz="1200" dirty="0"/>
              <a:t> </a:t>
            </a:r>
            <a:r>
              <a:rPr lang="vi-VN" sz="1200" dirty="0" err="1"/>
              <a:t>bằng</a:t>
            </a:r>
            <a:r>
              <a:rPr lang="vi-VN" sz="1200" dirty="0"/>
              <a:t> </a:t>
            </a:r>
            <a:r>
              <a:rPr lang="vi-VN" sz="1200" dirty="0" err="1"/>
              <a:t>FastAPI</a:t>
            </a:r>
            <a:r>
              <a:rPr lang="vi-VN" sz="1200" dirty="0"/>
              <a:t> </a:t>
            </a:r>
            <a:r>
              <a:rPr lang="vi-VN" sz="1200" dirty="0" err="1"/>
              <a:t>phục</a:t>
            </a:r>
            <a:r>
              <a:rPr lang="vi-VN" sz="1200" dirty="0"/>
              <a:t> </a:t>
            </a:r>
            <a:r>
              <a:rPr lang="vi-VN" sz="1200" dirty="0" err="1"/>
              <a:t>vụ</a:t>
            </a:r>
            <a:r>
              <a:rPr lang="vi-VN" sz="1200" dirty="0"/>
              <a:t> </a:t>
            </a:r>
            <a:r>
              <a:rPr lang="vi-VN" sz="1200" dirty="0" err="1"/>
              <a:t>machine</a:t>
            </a:r>
            <a:r>
              <a:rPr lang="vi-VN" sz="1200" dirty="0"/>
              <a:t> </a:t>
            </a:r>
            <a:r>
              <a:rPr lang="vi-VN" sz="1200" dirty="0" err="1"/>
              <a:t>learning</a:t>
            </a:r>
            <a:r>
              <a:rPr lang="vi-VN" sz="1200" dirty="0"/>
              <a:t> </a:t>
            </a:r>
            <a:r>
              <a:rPr lang="vi-VN" sz="1200" dirty="0" err="1"/>
              <a:t>inference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chatbot</a:t>
            </a:r>
            <a:r>
              <a:rPr lang="vi-VN" sz="1200" dirty="0"/>
              <a:t> RAG.</a:t>
            </a:r>
          </a:p>
        </p:txBody>
      </p:sp>
    </p:spTree>
    <p:extLst>
      <p:ext uri="{BB962C8B-B14F-4D97-AF65-F5344CB8AC3E}">
        <p14:creationId xmlns:p14="http://schemas.microsoft.com/office/powerpoint/2010/main" val="3310303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12868"/>
          </a:xfrm>
        </p:spPr>
        <p:txBody>
          <a:bodyPr wrap="square"/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496" y="1515036"/>
            <a:ext cx="8319246" cy="4509248"/>
          </a:xfrm>
        </p:spPr>
        <p:txBody>
          <a:bodyPr wrap="square" lIns="45720" bIns="73152">
            <a:normAutofit/>
          </a:bodyPr>
          <a:lstStyle/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Hệ</a:t>
            </a:r>
            <a:r>
              <a:rPr lang="vi-VN" sz="1200" dirty="0"/>
              <a:t> </a:t>
            </a:r>
            <a:r>
              <a:rPr lang="vi-VN" sz="1200" dirty="0" err="1"/>
              <a:t>thống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xây </a:t>
            </a:r>
            <a:r>
              <a:rPr lang="vi-VN" sz="1200" dirty="0" err="1"/>
              <a:t>dựng</a:t>
            </a:r>
            <a:r>
              <a:rPr lang="vi-VN" sz="1200" dirty="0"/>
              <a:t> theo mô </a:t>
            </a:r>
            <a:r>
              <a:rPr lang="vi-VN" sz="1200" dirty="0" err="1"/>
              <a:t>hình</a:t>
            </a:r>
            <a:r>
              <a:rPr lang="vi-VN" sz="1200" dirty="0"/>
              <a:t> </a:t>
            </a:r>
            <a:r>
              <a:rPr lang="vi-VN" sz="1200" dirty="0" err="1"/>
              <a:t>Microservices</a:t>
            </a:r>
            <a:r>
              <a:rPr lang="vi-VN" sz="1200" dirty="0"/>
              <a:t> </a:t>
            </a:r>
            <a:r>
              <a:rPr lang="vi-VN" sz="1200" dirty="0" err="1"/>
              <a:t>Architecture</a:t>
            </a:r>
            <a:r>
              <a:rPr lang="vi-VN" sz="1200" dirty="0"/>
              <a:t> </a:t>
            </a:r>
            <a:r>
              <a:rPr lang="vi-VN" sz="1200" dirty="0" err="1"/>
              <a:t>nhằm</a:t>
            </a:r>
            <a:r>
              <a:rPr lang="vi-VN" sz="1200" dirty="0"/>
              <a:t> tăng </a:t>
            </a:r>
            <a:r>
              <a:rPr lang="vi-VN" sz="1200" dirty="0" err="1"/>
              <a:t>khả</a:t>
            </a:r>
            <a:r>
              <a:rPr lang="vi-VN" sz="1200" dirty="0"/>
              <a:t> năng </a:t>
            </a:r>
            <a:r>
              <a:rPr lang="vi-VN" sz="1200" dirty="0" err="1"/>
              <a:t>mở</a:t>
            </a:r>
            <a:r>
              <a:rPr lang="vi-VN" sz="1200" dirty="0"/>
              <a:t> </a:t>
            </a:r>
            <a:r>
              <a:rPr lang="vi-VN" sz="1200" dirty="0" err="1"/>
              <a:t>rộng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giảm</a:t>
            </a:r>
            <a:r>
              <a:rPr lang="vi-VN" sz="1200" dirty="0"/>
              <a:t> </a:t>
            </a:r>
            <a:r>
              <a:rPr lang="vi-VN" sz="1200" dirty="0" err="1"/>
              <a:t>coupling</a:t>
            </a:r>
            <a:r>
              <a:rPr lang="vi-VN" sz="1200" dirty="0"/>
              <a:t> </a:t>
            </a:r>
            <a:r>
              <a:rPr lang="vi-VN" sz="1200" dirty="0" err="1"/>
              <a:t>giữa</a:t>
            </a:r>
            <a:r>
              <a:rPr lang="vi-VN" sz="1200" dirty="0"/>
              <a:t> </a:t>
            </a:r>
            <a:r>
              <a:rPr lang="vi-VN" sz="1200" dirty="0" err="1"/>
              <a:t>các</a:t>
            </a:r>
            <a:r>
              <a:rPr lang="vi-VN" sz="1200" dirty="0"/>
              <a:t> </a:t>
            </a:r>
            <a:r>
              <a:rPr lang="vi-VN" sz="1200" dirty="0" err="1"/>
              <a:t>module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Frontend</a:t>
            </a:r>
            <a:r>
              <a:rPr lang="vi-VN" sz="1200" dirty="0"/>
              <a:t> </a:t>
            </a:r>
            <a:r>
              <a:rPr lang="vi-VN" sz="1200" dirty="0" err="1"/>
              <a:t>ReactJS</a:t>
            </a:r>
            <a:r>
              <a:rPr lang="vi-VN" sz="1200" dirty="0"/>
              <a:t> giao </a:t>
            </a:r>
            <a:r>
              <a:rPr lang="vi-VN" sz="1200" dirty="0" err="1"/>
              <a:t>tiếp</a:t>
            </a:r>
            <a:r>
              <a:rPr lang="vi-VN" sz="1200" dirty="0"/>
              <a:t> thông qua API </a:t>
            </a:r>
            <a:r>
              <a:rPr lang="vi-VN" sz="1200" dirty="0" err="1"/>
              <a:t>Gateway</a:t>
            </a:r>
            <a:r>
              <a:rPr lang="vi-VN" sz="1200" dirty="0"/>
              <a:t> </a:t>
            </a:r>
            <a:r>
              <a:rPr lang="vi-VN" sz="1200" dirty="0" err="1"/>
              <a:t>để</a:t>
            </a:r>
            <a:r>
              <a:rPr lang="vi-VN" sz="1200" dirty="0"/>
              <a:t> </a:t>
            </a:r>
            <a:r>
              <a:rPr lang="vi-VN" sz="1200" dirty="0" err="1"/>
              <a:t>quản</a:t>
            </a:r>
            <a:r>
              <a:rPr lang="vi-VN" sz="1200" dirty="0"/>
              <a:t> </a:t>
            </a:r>
            <a:r>
              <a:rPr lang="vi-VN" sz="1200" dirty="0" err="1"/>
              <a:t>lý</a:t>
            </a:r>
            <a:r>
              <a:rPr lang="vi-VN" sz="1200" dirty="0"/>
              <a:t> </a:t>
            </a:r>
            <a:r>
              <a:rPr lang="vi-VN" sz="1200" dirty="0" err="1"/>
              <a:t>routing</a:t>
            </a:r>
            <a:r>
              <a:rPr lang="vi-VN" sz="1200" dirty="0"/>
              <a:t>, </a:t>
            </a:r>
            <a:r>
              <a:rPr lang="vi-VN" sz="1200" dirty="0" err="1"/>
              <a:t>authentication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aggregation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Các</a:t>
            </a:r>
            <a:r>
              <a:rPr lang="vi-VN" sz="1200" dirty="0"/>
              <a:t> </a:t>
            </a:r>
            <a:r>
              <a:rPr lang="vi-VN" sz="1200" dirty="0" err="1"/>
              <a:t>business</a:t>
            </a:r>
            <a:r>
              <a:rPr lang="vi-VN" sz="1200" dirty="0"/>
              <a:t> </a:t>
            </a:r>
            <a:r>
              <a:rPr lang="vi-VN" sz="1200" dirty="0" err="1"/>
              <a:t>service</a:t>
            </a:r>
            <a:r>
              <a:rPr lang="vi-VN" sz="1200" dirty="0"/>
              <a:t> giao </a:t>
            </a:r>
            <a:r>
              <a:rPr lang="vi-VN" sz="1200" dirty="0" err="1"/>
              <a:t>tiếp</a:t>
            </a:r>
            <a:r>
              <a:rPr lang="vi-VN" sz="1200" dirty="0"/>
              <a:t> </a:t>
            </a:r>
            <a:r>
              <a:rPr lang="vi-VN" sz="1200" dirty="0" err="1"/>
              <a:t>với</a:t>
            </a:r>
            <a:r>
              <a:rPr lang="vi-VN" sz="1200" dirty="0"/>
              <a:t> nhau thông qua HTTP, </a:t>
            </a:r>
            <a:r>
              <a:rPr lang="vi-VN" sz="1200" dirty="0" err="1"/>
              <a:t>gRPC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RabbitMQ</a:t>
            </a:r>
            <a:r>
              <a:rPr lang="vi-VN" sz="1200" dirty="0"/>
              <a:t> </a:t>
            </a:r>
            <a:r>
              <a:rPr lang="vi-VN" sz="1200" dirty="0" err="1"/>
              <a:t>event</a:t>
            </a:r>
            <a:r>
              <a:rPr lang="vi-VN" sz="1200" dirty="0"/>
              <a:t> </a:t>
            </a:r>
            <a:r>
              <a:rPr lang="vi-VN" sz="1200" dirty="0" err="1"/>
              <a:t>bus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</a:t>
            </a:r>
            <a:r>
              <a:rPr lang="vi-VN" sz="1200" dirty="0" err="1"/>
              <a:t>Redis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</a:t>
            </a:r>
            <a:r>
              <a:rPr lang="vi-VN" sz="1200" dirty="0" err="1"/>
              <a:t>sử</a:t>
            </a:r>
            <a:r>
              <a:rPr lang="vi-VN" sz="1200" dirty="0"/>
              <a:t> </a:t>
            </a:r>
            <a:r>
              <a:rPr lang="vi-VN" sz="1200" dirty="0" err="1"/>
              <a:t>dụng</a:t>
            </a:r>
            <a:r>
              <a:rPr lang="vi-VN" sz="1200" dirty="0"/>
              <a:t> cho </a:t>
            </a:r>
            <a:r>
              <a:rPr lang="vi-VN" sz="1200" dirty="0" err="1"/>
              <a:t>caching</a:t>
            </a:r>
            <a:r>
              <a:rPr lang="vi-VN" sz="1200" dirty="0"/>
              <a:t>, </a:t>
            </a:r>
            <a:r>
              <a:rPr lang="vi-VN" sz="1200" dirty="0" err="1"/>
              <a:t>session</a:t>
            </a:r>
            <a:r>
              <a:rPr lang="vi-VN" sz="1200" dirty="0"/>
              <a:t> </a:t>
            </a:r>
            <a:r>
              <a:rPr lang="vi-VN" sz="1200" dirty="0" err="1"/>
              <a:t>management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geospatial</a:t>
            </a:r>
            <a:r>
              <a:rPr lang="vi-VN" sz="1200" dirty="0"/>
              <a:t> </a:t>
            </a:r>
            <a:r>
              <a:rPr lang="vi-VN" sz="1200" dirty="0" err="1"/>
              <a:t>lookup</a:t>
            </a:r>
            <a:r>
              <a:rPr lang="vi-VN" sz="1200" dirty="0"/>
              <a:t> </a:t>
            </a:r>
            <a:r>
              <a:rPr lang="vi-VN" sz="1200" dirty="0" err="1"/>
              <a:t>tài</a:t>
            </a:r>
            <a:r>
              <a:rPr lang="vi-VN" sz="1200" dirty="0"/>
              <a:t> </a:t>
            </a:r>
            <a:r>
              <a:rPr lang="vi-VN" sz="1200" dirty="0" err="1"/>
              <a:t>xế</a:t>
            </a:r>
            <a:r>
              <a:rPr lang="vi-VN" sz="1200" dirty="0"/>
              <a:t> </a:t>
            </a:r>
            <a:r>
              <a:rPr lang="vi-VN" sz="1200" dirty="0" err="1"/>
              <a:t>gần</a:t>
            </a:r>
            <a:r>
              <a:rPr lang="vi-VN" sz="1200" dirty="0"/>
              <a:t> </a:t>
            </a:r>
            <a:r>
              <a:rPr lang="vi-VN" sz="1200" dirty="0" err="1"/>
              <a:t>nhất</a:t>
            </a:r>
            <a:r>
              <a:rPr lang="vi-VN" sz="1200" dirty="0"/>
              <a:t>.</a:t>
            </a:r>
          </a:p>
          <a:p>
            <a:pPr marL="0" indent="0">
              <a:spcAft>
                <a:spcPts val="1000"/>
              </a:spcAft>
              <a:buNone/>
              <a:defRPr sz="1900">
                <a:solidFill>
                  <a:srgbClr val="1E293B"/>
                </a:solidFill>
              </a:defRPr>
            </a:pPr>
            <a:r>
              <a:rPr lang="vi-VN" sz="1200" dirty="0"/>
              <a:t>• AI </a:t>
            </a:r>
            <a:r>
              <a:rPr lang="vi-VN" sz="1200" dirty="0" err="1"/>
              <a:t>Service</a:t>
            </a:r>
            <a:r>
              <a:rPr lang="vi-VN" sz="1200" dirty="0"/>
              <a:t> </a:t>
            </a:r>
            <a:r>
              <a:rPr lang="vi-VN" sz="1200" dirty="0" err="1"/>
              <a:t>được</a:t>
            </a:r>
            <a:r>
              <a:rPr lang="vi-VN" sz="1200" dirty="0"/>
              <a:t> xây </a:t>
            </a:r>
            <a:r>
              <a:rPr lang="vi-VN" sz="1200" dirty="0" err="1"/>
              <a:t>dựng</a:t>
            </a:r>
            <a:r>
              <a:rPr lang="vi-VN" sz="1200" dirty="0"/>
              <a:t> </a:t>
            </a:r>
            <a:r>
              <a:rPr lang="vi-VN" sz="1200" dirty="0" err="1"/>
              <a:t>bằng</a:t>
            </a:r>
            <a:r>
              <a:rPr lang="vi-VN" sz="1200" dirty="0"/>
              <a:t> </a:t>
            </a:r>
            <a:r>
              <a:rPr lang="vi-VN" sz="1200" dirty="0" err="1"/>
              <a:t>FastAPI</a:t>
            </a:r>
            <a:r>
              <a:rPr lang="vi-VN" sz="1200" dirty="0"/>
              <a:t> </a:t>
            </a:r>
            <a:r>
              <a:rPr lang="vi-VN" sz="1200" dirty="0" err="1"/>
              <a:t>phục</a:t>
            </a:r>
            <a:r>
              <a:rPr lang="vi-VN" sz="1200" dirty="0"/>
              <a:t> </a:t>
            </a:r>
            <a:r>
              <a:rPr lang="vi-VN" sz="1200" dirty="0" err="1"/>
              <a:t>vụ</a:t>
            </a:r>
            <a:r>
              <a:rPr lang="vi-VN" sz="1200" dirty="0"/>
              <a:t> </a:t>
            </a:r>
            <a:r>
              <a:rPr lang="vi-VN" sz="1200" dirty="0" err="1"/>
              <a:t>machine</a:t>
            </a:r>
            <a:r>
              <a:rPr lang="vi-VN" sz="1200" dirty="0"/>
              <a:t> </a:t>
            </a:r>
            <a:r>
              <a:rPr lang="vi-VN" sz="1200" dirty="0" err="1"/>
              <a:t>learning</a:t>
            </a:r>
            <a:r>
              <a:rPr lang="vi-VN" sz="1200" dirty="0"/>
              <a:t> </a:t>
            </a:r>
            <a:r>
              <a:rPr lang="vi-VN" sz="1200" dirty="0" err="1"/>
              <a:t>inference</a:t>
            </a:r>
            <a:r>
              <a:rPr lang="vi-VN" sz="1200" dirty="0"/>
              <a:t> </a:t>
            </a:r>
            <a:r>
              <a:rPr lang="vi-VN" sz="1200" dirty="0" err="1"/>
              <a:t>và</a:t>
            </a:r>
            <a:r>
              <a:rPr lang="vi-VN" sz="1200" dirty="0"/>
              <a:t> </a:t>
            </a:r>
            <a:r>
              <a:rPr lang="vi-VN" sz="1200" dirty="0" err="1"/>
              <a:t>chatbot</a:t>
            </a:r>
            <a:r>
              <a:rPr lang="vi-VN" sz="1200" dirty="0"/>
              <a:t> RAG.</a:t>
            </a:r>
          </a:p>
        </p:txBody>
      </p:sp>
    </p:spTree>
    <p:extLst>
      <p:ext uri="{BB962C8B-B14F-4D97-AF65-F5344CB8AC3E}">
        <p14:creationId xmlns:p14="http://schemas.microsoft.com/office/powerpoint/2010/main" val="2481867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2685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rPr dirty="0" err="1"/>
              <a:t>Các</a:t>
            </a:r>
            <a:r>
              <a:rPr dirty="0"/>
              <a:t> service </a:t>
            </a:r>
            <a:r>
              <a:rPr dirty="0" err="1"/>
              <a:t>chính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Auth Service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JWT </a:t>
            </a:r>
            <a:r>
              <a:rPr dirty="0" err="1"/>
              <a:t>và</a:t>
            </a:r>
            <a:r>
              <a:rPr dirty="0"/>
              <a:t> refresh token.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Ride Service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đời</a:t>
            </a:r>
            <a:r>
              <a:rPr dirty="0"/>
              <a:t> </a:t>
            </a:r>
            <a:r>
              <a:rPr dirty="0" err="1"/>
              <a:t>chuyến</a:t>
            </a:r>
            <a:r>
              <a:rPr dirty="0"/>
              <a:t> </a:t>
            </a:r>
            <a:r>
              <a:rPr dirty="0" err="1"/>
              <a:t>đi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state machine.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Matching Service </a:t>
            </a:r>
            <a:r>
              <a:rPr dirty="0" err="1"/>
              <a:t>chịu</a:t>
            </a:r>
            <a:r>
              <a:rPr dirty="0"/>
              <a:t> </a:t>
            </a:r>
            <a:r>
              <a:rPr dirty="0" err="1"/>
              <a:t>trách</a:t>
            </a:r>
            <a:r>
              <a:rPr dirty="0"/>
              <a:t> </a:t>
            </a:r>
            <a:r>
              <a:rPr dirty="0" err="1"/>
              <a:t>nhiệm</a:t>
            </a:r>
            <a:r>
              <a:rPr dirty="0"/>
              <a:t> </a:t>
            </a:r>
            <a:r>
              <a:rPr dirty="0" err="1"/>
              <a:t>tìm</a:t>
            </a:r>
            <a:r>
              <a:rPr dirty="0"/>
              <a:t> </a:t>
            </a:r>
            <a:r>
              <a:rPr dirty="0" err="1"/>
              <a:t>kiếm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gợi</a:t>
            </a:r>
            <a:r>
              <a:rPr dirty="0"/>
              <a:t> ý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xế</a:t>
            </a:r>
            <a:r>
              <a:rPr dirty="0"/>
              <a:t> </a:t>
            </a:r>
            <a:r>
              <a:rPr dirty="0" err="1"/>
              <a:t>phù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Wallet Service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ví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xế</a:t>
            </a:r>
            <a:r>
              <a:rPr dirty="0"/>
              <a:t>,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nợ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dư</a:t>
            </a:r>
            <a:r>
              <a:rPr dirty="0"/>
              <a:t> pending.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Payment Service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MoMo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VNPay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online.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Notification Service </a:t>
            </a:r>
            <a:r>
              <a:rPr dirty="0" err="1"/>
              <a:t>gửi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 </a:t>
            </a: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</a:t>
            </a:r>
            <a:r>
              <a:rPr dirty="0" err="1"/>
              <a:t>đến</a:t>
            </a:r>
            <a:r>
              <a:rPr dirty="0"/>
              <a:t> </a:t>
            </a:r>
            <a:r>
              <a:rPr dirty="0" err="1"/>
              <a:t>khách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xế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2664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overview arch system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737CD-DFEC-42D5-BFD4-2832F3703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94" y="694943"/>
            <a:ext cx="9144000" cy="420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45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ms port map</a:t>
            </a:r>
          </a:p>
        </p:txBody>
      </p:sp>
      <p:pic>
        <p:nvPicPr>
          <p:cNvPr id="3" name="Picture 2" descr="arch_ms_por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709" y="804672"/>
            <a:ext cx="4182581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ms comm flow</a:t>
            </a:r>
          </a:p>
        </p:txBody>
      </p:sp>
      <p:pic>
        <p:nvPicPr>
          <p:cNvPr id="3" name="Picture 2" descr="arch_ms_com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6044"/>
            <a:ext cx="8321040" cy="34991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rPr dirty="0"/>
              <a:t>6.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thiết</a:t>
            </a:r>
            <a:r>
              <a:rPr dirty="0"/>
              <a:t> </a:t>
            </a:r>
            <a:r>
              <a:rPr dirty="0" err="1"/>
              <a:t>kế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mềm</a:t>
            </a:r>
            <a:r>
              <a:rPr dirty="0"/>
              <a:t> (Design Pattern)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 marL="0" indent="0">
              <a:spcAft>
                <a:spcPts val="300"/>
              </a:spcAft>
              <a:buNone/>
              <a:defRPr sz="1100"/>
            </a:pPr>
            <a:r>
              <a:rPr dirty="0" err="1"/>
              <a:t>Nên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vẽ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thuyết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dp pattern catalog</a:t>
            </a:r>
          </a:p>
        </p:txBody>
      </p:sp>
      <p:pic>
        <p:nvPicPr>
          <p:cNvPr id="3" name="Picture 2" descr="dp_pattern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05189"/>
            <a:ext cx="8321040" cy="564081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integration pattern map</a:t>
            </a:r>
          </a:p>
        </p:txBody>
      </p:sp>
      <p:pic>
        <p:nvPicPr>
          <p:cNvPr id="3" name="Picture 2" descr="arch_integration_patter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52" y="804672"/>
            <a:ext cx="6017294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CI/CD và triển khai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125609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Toàn bộ service được docker hóa nhằm đảm bảo tính đồng nhất môi trường.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GitHub Actions được sử dụng để tự động test, build và deploy hệ thống.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Hệ thống triển khai trên AWS EC2 theo mô hình Docker Swarm cluster.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Nginx đóng vai trò reverse proxy và quản lý SSL Let's Encrypt.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Rolling update giúp giảm downtime khi cập nhật phiên bản mới.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cicd github actions docker</a:t>
            </a:r>
          </a:p>
        </p:txBody>
      </p:sp>
      <p:pic>
        <p:nvPicPr>
          <p:cNvPr id="3" name="Picture 2" descr="cicd_github_actions_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685" y="804672"/>
            <a:ext cx="2800629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deploy docker swarm topology</a:t>
            </a:r>
          </a:p>
        </p:txBody>
      </p:sp>
      <p:pic>
        <p:nvPicPr>
          <p:cNvPr id="3" name="Picture 2" descr="deploy_docker_swarm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86044"/>
            <a:ext cx="8321040" cy="18791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deploy swarm aws asbuilt</a:t>
            </a:r>
          </a:p>
        </p:txBody>
      </p:sp>
      <p:pic>
        <p:nvPicPr>
          <p:cNvPr id="3" name="Picture 2" descr="deploy_swarm_aws_asbu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13358"/>
            <a:ext cx="8321040" cy="242447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rPr dirty="0"/>
              <a:t>8.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AI (AI / AI agent pipeline)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>
              <a:spcAft>
                <a:spcPts val="300"/>
              </a:spcAft>
              <a:defRPr sz="1100"/>
            </a:pPr>
            <a:r>
              <a:t>(middle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ai agent rag retrieval</a:t>
            </a:r>
          </a:p>
        </p:txBody>
      </p:sp>
      <p:pic>
        <p:nvPicPr>
          <p:cNvPr id="3" name="Picture 2" descr="ai_agent_rag_retri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54056"/>
            <a:ext cx="8321040" cy="154307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ai ml sklearn train infer pipeline</a:t>
            </a:r>
          </a:p>
        </p:txBody>
      </p:sp>
      <p:pic>
        <p:nvPicPr>
          <p:cNvPr id="3" name="Picture 2" descr="ai_ml_sklearn_train_inf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858" y="804672"/>
            <a:ext cx="4380283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Monitoring và Logging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77374" cy="2231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Prometheus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sử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thu</a:t>
            </a:r>
            <a:r>
              <a:rPr dirty="0"/>
              <a:t> </a:t>
            </a:r>
            <a:r>
              <a:rPr dirty="0" err="1"/>
              <a:t>thập</a:t>
            </a:r>
            <a:r>
              <a:rPr dirty="0"/>
              <a:t> metrics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Grafana </a:t>
            </a:r>
            <a:r>
              <a:rPr dirty="0" err="1"/>
              <a:t>hiển</a:t>
            </a:r>
            <a:r>
              <a:rPr dirty="0"/>
              <a:t> </a:t>
            </a:r>
            <a:r>
              <a:rPr dirty="0" err="1"/>
              <a:t>thị</a:t>
            </a:r>
            <a:r>
              <a:rPr dirty="0"/>
              <a:t> dashboard </a:t>
            </a:r>
            <a:r>
              <a:rPr dirty="0" err="1"/>
              <a:t>realtime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dõi</a:t>
            </a:r>
            <a:r>
              <a:rPr dirty="0"/>
              <a:t> CPU, RAM, request </a:t>
            </a:r>
            <a:r>
              <a:rPr dirty="0" err="1"/>
              <a:t>và</a:t>
            </a:r>
            <a:r>
              <a:rPr dirty="0"/>
              <a:t> queue.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Loki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Promtail</a:t>
            </a:r>
            <a:r>
              <a:rPr dirty="0"/>
              <a:t>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centralized logging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container.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bottleneck,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lỗi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dõi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thời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mon prometheus grafana stack</a:t>
            </a:r>
          </a:p>
        </p:txBody>
      </p:sp>
      <p:pic>
        <p:nvPicPr>
          <p:cNvPr id="3" name="Picture 2" descr="mon_prometheus_grafana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29483"/>
            <a:ext cx="8321040" cy="25922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rPr dirty="0"/>
              <a:t>10.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dịch</a:t>
            </a:r>
            <a:r>
              <a:rPr dirty="0"/>
              <a:t> (Transaction process — MSA)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>
              <a:spcAft>
                <a:spcPts val="300"/>
              </a:spcAft>
              <a:defRPr sz="1100"/>
            </a:pPr>
            <a:r>
              <a:t>(senior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seq payment after ride complete</a:t>
            </a:r>
          </a:p>
        </p:txBody>
      </p:sp>
      <p:pic>
        <p:nvPicPr>
          <p:cNvPr id="3" name="Picture 2" descr="seq_payment_after_ride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978" y="804672"/>
            <a:ext cx="7004043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act payment online saga</a:t>
            </a:r>
          </a:p>
        </p:txBody>
      </p:sp>
      <p:pic>
        <p:nvPicPr>
          <p:cNvPr id="3" name="Picture 2" descr="act_payment_online_sa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8076"/>
            <a:ext cx="8321040" cy="367503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seq payment ipn idempotent</a:t>
            </a:r>
          </a:p>
        </p:txBody>
      </p:sp>
      <p:pic>
        <p:nvPicPr>
          <p:cNvPr id="3" name="Picture 2" descr="seq_payment_ipn_idempo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65560"/>
            <a:ext cx="8321040" cy="45200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rPr dirty="0"/>
              <a:t>11.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nhu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(System scalability)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>
              <a:spcAft>
                <a:spcPts val="300"/>
              </a:spcAft>
              <a:defRPr sz="1100"/>
            </a:pPr>
            <a:r>
              <a:t>(senior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  <a:p>
            <a:pPr>
              <a:spcAft>
                <a:spcPts val="300"/>
              </a:spcAft>
              <a:defRPr sz="1100"/>
            </a:pPr>
            <a:r>
              <a:t>Đánh giá hiệu năng mở hệ thống.</a:t>
            </a:r>
          </a:p>
          <a:p>
            <a:pPr>
              <a:spcAft>
                <a:spcPts val="300"/>
              </a:spcAft>
              <a:defRPr sz="1100"/>
            </a:pPr>
            <a:r>
              <a:t>Ví dụ: quy mô lớn — Yêu cầu hệ thống đáp ứng nhanh (SLA).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scalability approach</a:t>
            </a:r>
          </a:p>
        </p:txBody>
      </p:sp>
      <p:pic>
        <p:nvPicPr>
          <p:cNvPr id="3" name="Picture 2" descr="arch_scalability_appro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959" y="804672"/>
            <a:ext cx="4684080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sec trust boundary multitier</a:t>
            </a:r>
          </a:p>
        </p:txBody>
      </p:sp>
      <p:pic>
        <p:nvPicPr>
          <p:cNvPr id="3" name="Picture 2" descr="sec_trust_boundary_multi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899" y="804672"/>
            <a:ext cx="3336201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Bảo mật hệ thống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412480" cy="235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sử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JWT </a:t>
            </a:r>
            <a:r>
              <a:rPr dirty="0" err="1"/>
              <a:t>và</a:t>
            </a:r>
            <a:r>
              <a:rPr dirty="0"/>
              <a:t> refresh token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Role-based access control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Customer, Driver </a:t>
            </a:r>
            <a:r>
              <a:rPr dirty="0" err="1"/>
              <a:t>và</a:t>
            </a:r>
            <a:r>
              <a:rPr dirty="0"/>
              <a:t> Admin.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Nginx Reverse Proxy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HTTPS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vệ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client </a:t>
            </a:r>
            <a:r>
              <a:rPr dirty="0" err="1"/>
              <a:t>và</a:t>
            </a:r>
            <a:r>
              <a:rPr dirty="0"/>
              <a:t> server.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Mỗi</a:t>
            </a:r>
            <a:r>
              <a:rPr dirty="0"/>
              <a:t> microservice </a:t>
            </a:r>
            <a:r>
              <a:rPr dirty="0" err="1"/>
              <a:t>sở</a:t>
            </a:r>
            <a:r>
              <a:rPr dirty="0"/>
              <a:t> </a:t>
            </a:r>
            <a:r>
              <a:rPr dirty="0" err="1"/>
              <a:t>hữu</a:t>
            </a:r>
            <a:r>
              <a:rPr dirty="0"/>
              <a:t> database </a:t>
            </a:r>
            <a:r>
              <a:rPr dirty="0" err="1"/>
              <a:t>riêng</a:t>
            </a:r>
            <a:r>
              <a:rPr dirty="0"/>
              <a:t> </a:t>
            </a:r>
            <a:r>
              <a:rPr dirty="0" err="1"/>
              <a:t>nhằm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mật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rPr dirty="0"/>
              <a:t>• Validation </a:t>
            </a:r>
            <a:r>
              <a:rPr dirty="0" err="1"/>
              <a:t>và</a:t>
            </a:r>
            <a:r>
              <a:rPr dirty="0"/>
              <a:t> logging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transaction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Kết quả đạt được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Hệ thống có thể xử lý đầy đủ quy trình đặt xe từ khách hàng đến tài xế.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Realtime tracking và matching hoạt động ổn định trên nhiều node.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Các module thanh toán, ví tài xế và AI hoạt động theo đúng nghiệp vụ đề ra.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Kiến trúc microservices giúp hệ thống dễ mở rộng và dễ bảo trì.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CI/CD, monitoring và logging đã được triển khai thực tế trên môi trường cloud.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Hướng phát triển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Triển khai Kubernetes để thay thế Docker Swarm trong môi trường quy mô lớn.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Tích hợp distributed tracing với Jaeger hoặc OpenTelemetry.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Huấn luyện lại mô hình AI bằng dữ liệu thực tế từ người dùng.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Mở rộng thêm dịch vụ giao hàng, food delivery và loyalty system.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Phát triển autoscaling và multi-region deployment.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Kết luận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3200400" cy="5486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FoxGo là mô hình hệ thống gọi xe hiện đại tích hợp AI, realtime và fintech.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Đề tài thể hiện khả năng áp dụng kiến trúc microservices vào bài toán thực tế.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Hệ thống đáp ứng tốt các yêu cầu về hiệu năng, khả năng mở rộng và tính ổn định.</a:t>
            </a:r>
          </a:p>
          <a:p>
            <a:pPr>
              <a:spcAft>
                <a:spcPts val="1000"/>
              </a:spcAft>
              <a:defRPr sz="1900">
                <a:solidFill>
                  <a:srgbClr val="1E293B"/>
                </a:solidFill>
              </a:defRPr>
            </a:pPr>
            <a:r>
              <a:t>• Đây là nền tảng có thể tiếp tục mở rộng thành mô hình startup hoặc production system trong tương lai.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14.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" bIns="73152"/>
          <a:lstStyle/>
          <a:p>
            <a:pPr>
              <a:spcAft>
                <a:spcPts val="300"/>
              </a:spcAft>
              <a:defRPr sz="1100"/>
            </a:pPr>
            <a:r>
              <a:t>Bắt đầu demo ứng dụng trực tiếp.</a:t>
            </a:r>
          </a:p>
          <a:p>
            <a:pPr>
              <a:spcAft>
                <a:spcPts val="300"/>
              </a:spcAft>
              <a:defRPr sz="1100"/>
            </a:pPr>
            <a:r>
              <a:t>Nạp dữ liệu mẫu trước; chọn quy trình hoàn chỉnh; dành thời gian cho chức năng đặc sắc (đặc biệt AI).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defRPr sz="2800"/>
            </a:pPr>
            <a:r>
              <a:t>Cảm ơn thầy cô và hội đồng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defRPr sz="1400"/>
            </a:pPr>
            <a: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1672</Words>
  <Application>Microsoft Office PowerPoint</Application>
  <PresentationFormat>On-screen Show (4:3)</PresentationFormat>
  <Paragraphs>118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Times New Roman</vt:lpstr>
      <vt:lpstr>Office Theme</vt:lpstr>
      <vt:lpstr>PowerPoint Presentation</vt:lpstr>
      <vt:lpstr>1. Đặt vấn đề (Problem and scope)</vt:lpstr>
      <vt:lpstr>2. Thu thập yêu cầu và khảo sát nghiệp vụ (Requirement and survey)</vt:lpstr>
      <vt:lpstr>Bài toán thực tế</vt:lpstr>
      <vt:lpstr>Mục tiêu đề tài</vt:lpstr>
      <vt:lpstr>PowerPoint Presentation</vt:lpstr>
      <vt:lpstr>3. Phân tích và thiết kế nghiệp vụ (DDD)</vt:lpstr>
      <vt:lpstr>PowerPoint Presentation</vt:lpstr>
      <vt:lpstr>PowerPoint Presentation</vt:lpstr>
      <vt:lpstr>PowerPoint Presentation</vt:lpstr>
      <vt:lpstr>4. Phân tích và thiết kế chức năng (Use case diagram)</vt:lpstr>
      <vt:lpstr>PowerPoint Presentation</vt:lpstr>
      <vt:lpstr>PowerPoint Presentation</vt:lpstr>
      <vt:lpstr>Kiến trúc tổng thể hệ thống</vt:lpstr>
      <vt:lpstr>Kiến trúc tổng thể hệ thống</vt:lpstr>
      <vt:lpstr>PowerPoint Presentation</vt:lpstr>
      <vt:lpstr>PowerPoint Presentation</vt:lpstr>
      <vt:lpstr>PowerPoint Presentation</vt:lpstr>
      <vt:lpstr>PowerPoint Presentation</vt:lpstr>
      <vt:lpstr>6. Mẫu thiết kế phần mềm (Design Pattern)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8. Ứng dụng AI (AI / AI agent pipeline)</vt:lpstr>
      <vt:lpstr>PowerPoint Presentation</vt:lpstr>
      <vt:lpstr>PowerPoint Presentation</vt:lpstr>
      <vt:lpstr>PowerPoint Presentation</vt:lpstr>
      <vt:lpstr>PowerPoint Presentation</vt:lpstr>
      <vt:lpstr>10. Tối ưu kiến trúc giao dịch (Transaction process — MSA)</vt:lpstr>
      <vt:lpstr>PowerPoint Presentation</vt:lpstr>
      <vt:lpstr>PowerPoint Presentation</vt:lpstr>
      <vt:lpstr>PowerPoint Presentation</vt:lpstr>
      <vt:lpstr>11. Tối ưu hóa hệ thống đáp ứng nhu cầu (System scalability)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14. Demo</vt:lpstr>
      <vt:lpstr>Cảm ơn thầy cô và hội đồng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KHÓA LUẬN TỐT NGHIỆP Đề tài: Thiết kế và xây dựng hệ thống đặt xe dịch vụ thời gian thực theo hướng kiến trúc vi dịch vụ</dc:title>
  <dc:subject/>
  <dc:creator/>
  <cp:keywords/>
  <dc:description>generated using python-pptx</dc:description>
  <cp:lastModifiedBy>Sáng Trần Quốc</cp:lastModifiedBy>
  <cp:revision>7</cp:revision>
  <dcterms:created xsi:type="dcterms:W3CDTF">2013-01-27T09:14:16Z</dcterms:created>
  <dcterms:modified xsi:type="dcterms:W3CDTF">2026-05-08T20:12:37Z</dcterms:modified>
  <cp:category/>
</cp:coreProperties>
</file>