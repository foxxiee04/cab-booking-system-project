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defRPr sz="2800"/>
            </a:pPr>
            <a:r>
              <a:t>TIÊU ĐỀ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defRPr sz="1400"/>
            </a:pPr>
            <a:r>
              <a:t>Thông tin sinh viên:</a:t>
            </a:r>
          </a:p>
          <a:p>
            <a:pPr>
              <a:defRPr sz="1400"/>
            </a:pPr>
            <a:r>
              <a:t>Người nói đầu tiên: …</a:t>
            </a:r>
          </a:p>
          <a:p>
            <a:pPr>
              <a:defRPr sz="1400"/>
            </a:pPr>
            <a:r>
              <a:t>Người nói cuối cùng: …</a:t>
            </a:r>
          </a:p>
          <a:p>
            <a:pPr>
              <a:defRPr sz="1400"/>
            </a:pPr>
            <a:r>
              <a:t>GVHD: ThS Huỳnh Nam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Danh sách 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1. Đặt vấn đề (Problem and scope)</a:t>
            </a:r>
          </a:p>
          <a:p>
            <a:pPr>
              <a:spcAft>
                <a:spcPts val="300"/>
              </a:spcAft>
              <a:defRPr sz="1100"/>
            </a:pPr>
            <a:r>
              <a:t>2. Thu thập yêu cầu và khảo sát nghiệp vụ (Requirement and survey)</a:t>
            </a:r>
          </a:p>
          <a:p>
            <a:pPr>
              <a:spcAft>
                <a:spcPts val="300"/>
              </a:spcAft>
              <a:defRPr sz="1100"/>
            </a:pPr>
            <a:r>
              <a:t>3. Phân tích và thiết kế nghiệp vụ (Domain or business model / Domain driven design)</a:t>
            </a:r>
          </a:p>
          <a:p>
            <a:pPr>
              <a:spcAft>
                <a:spcPts val="300"/>
              </a:spcAft>
              <a:defRPr sz="1100"/>
            </a:pPr>
            <a:r>
              <a:t>4. Phân tích và thiết kế chức năng của hệ thống (Use case diagram)</a:t>
            </a:r>
          </a:p>
          <a:p>
            <a:pPr>
              <a:spcAft>
                <a:spcPts val="300"/>
              </a:spcAft>
              <a:defRPr sz="1100"/>
            </a:pPr>
            <a:r>
              <a:t>5. Thiết kế kiến trúc hệ thống (System architecture design - SAD)</a:t>
            </a:r>
          </a:p>
          <a:p>
            <a:pPr>
              <a:spcAft>
                <a:spcPts val="300"/>
              </a:spcAft>
              <a:defRPr sz="1100"/>
            </a:pPr>
            <a:r>
              <a:t>6. (tùy chọn) Mẫu thiết kế phần mềm (Design Pattern)</a:t>
            </a:r>
          </a:p>
          <a:p>
            <a:pPr>
              <a:spcAft>
                <a:spcPts val="300"/>
              </a:spcAft>
              <a:defRPr sz="1100"/>
            </a:pPr>
            <a:r>
              <a:t>7. (tùy chọn) Cài đặt và triển khai (CI/CD)</a:t>
            </a:r>
          </a:p>
          <a:p>
            <a:pPr>
              <a:spcAft>
                <a:spcPts val="300"/>
              </a:spcAft>
              <a:defRPr sz="1100"/>
            </a:pPr>
            <a:r>
              <a:t>8. (tùy chọn) Ứng dụng AI (AI / AI agent pipeline)</a:t>
            </a:r>
          </a:p>
          <a:p>
            <a:pPr>
              <a:spcAft>
                <a:spcPts val="300"/>
              </a:spcAft>
              <a:defRPr sz="1100"/>
            </a:pPr>
            <a:r>
              <a:t>9. (tùy chọn) Giám sát hệ thống (System monitor)</a:t>
            </a:r>
          </a:p>
          <a:p>
            <a:pPr>
              <a:spcAft>
                <a:spcPts val="300"/>
              </a:spcAft>
              <a:defRPr sz="1100"/>
            </a:pPr>
            <a:r>
              <a:t>10. (tùy chọn) Tối ưu kiến trúc giao dịch (Transaction process) — thanh toán trực tuyến MSA</a:t>
            </a:r>
          </a:p>
          <a:p>
            <a:pPr>
              <a:spcAft>
                <a:spcPts val="300"/>
              </a:spcAft>
              <a:defRPr sz="1100"/>
            </a:pPr>
            <a:r>
              <a:t>11. (tùy chọn) Tối ưu hóa hệ thống đáp ứng nhu cầu (System scalability)</a:t>
            </a:r>
          </a:p>
          <a:p>
            <a:pPr>
              <a:spcAft>
                <a:spcPts val="300"/>
              </a:spcAft>
              <a:defRPr sz="1100"/>
            </a:pPr>
            <a:r>
              <a:t>12. (tùy chọn) Tăng cường bảo mật hệ thống và dữ liệu (Information Security, Data security)</a:t>
            </a:r>
          </a:p>
          <a:p>
            <a:pPr>
              <a:spcAft>
                <a:spcPts val="300"/>
              </a:spcAft>
              <a:defRPr sz="1100"/>
            </a:pPr>
            <a:r>
              <a:t>13. Kết luận</a:t>
            </a:r>
          </a:p>
          <a:p>
            <a:pPr>
              <a:spcAft>
                <a:spcPts val="300"/>
              </a:spcAft>
              <a:defRPr sz="1100"/>
            </a:pPr>
            <a:r>
              <a:t>14.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1. Đặt vấn đề (Problem and scope)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(fresher level)</a:t>
            </a:r>
          </a:p>
          <a:p>
            <a:pPr>
              <a:spcAft>
                <a:spcPts val="300"/>
              </a:spcAft>
              <a:defRPr sz="1100"/>
            </a:pPr>
            <a:r>
              <a:t>Mô tả bài toán và phạm vi ngắn gọn không nên đọc slide, nên dùng danh sách gạch đầu dòng liệt kê ý chính và tự thuyết minh chi tiết.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overview arch system</a:t>
            </a:r>
          </a:p>
        </p:txBody>
      </p:sp>
      <p:pic>
        <p:nvPicPr>
          <p:cNvPr id="3" name="Picture 2" descr="overview_arch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31716"/>
            <a:ext cx="8321040" cy="27877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2. Thu thập yêu cầu và khảo sát nghiệp vụ (Requirement and survey)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(fresher level)</a:t>
            </a:r>
          </a:p>
          <a:p>
            <a:pPr>
              <a:spcAft>
                <a:spcPts val="300"/>
              </a:spcAft>
              <a:defRPr sz="1100"/>
            </a:pPr>
            <a:r>
              <a:t>Thu thập yêu cầu từ khách hàng.</a:t>
            </a:r>
          </a:p>
          <a:p>
            <a:pPr>
              <a:spcAft>
                <a:spcPts val="300"/>
              </a:spcAft>
              <a:defRPr sz="1100"/>
            </a:pPr>
            <a:r>
              <a:t>Khảo sát các hệ thống thực tế điển hình: nên dùng hình ảnh biểu đồ phân tích dữ liệu và tự thuyết minh diễn giải — từ đó thể hiện kinh nghiệm người làm dự án.</a:t>
            </a:r>
          </a:p>
          <a:p>
            <a:pPr>
              <a:spcAft>
                <a:spcPts val="300"/>
              </a:spcAft>
              <a:defRPr sz="1100"/>
            </a:pPr>
            <a:r>
              <a:t>Cách đọc biểu đồ phân tích.</a:t>
            </a:r>
          </a:p>
          <a:p>
            <a:pPr>
              <a:spcAft>
                <a:spcPts val="300"/>
              </a:spcAft>
              <a:defRPr sz="1100"/>
            </a:pPr>
            <a:r>
              <a:t>Câu hỏi muốn giải quyết là gì?</a:t>
            </a:r>
          </a:p>
          <a:p>
            <a:pPr>
              <a:spcAft>
                <a:spcPts val="300"/>
              </a:spcAft>
              <a:defRPr sz="1100"/>
            </a:pPr>
            <a:r>
              <a:t>Số liệu biểu đồ cho thấy thông tin gì?</a:t>
            </a:r>
          </a:p>
          <a:p>
            <a:pPr>
              <a:spcAft>
                <a:spcPts val="300"/>
              </a:spcAft>
              <a:defRPr sz="1100"/>
            </a:pPr>
            <a:r>
              <a:t>Rút ra kết luận gì áp dụng cho dự án?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uc journey roles en</a:t>
            </a:r>
          </a:p>
        </p:txBody>
      </p:sp>
      <p:pic>
        <p:nvPicPr>
          <p:cNvPr id="3" name="Picture 2" descr="uc_journey_rol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3587"/>
            <a:ext cx="8321040" cy="35440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3. Phân tích và thiết kế nghiệp vụ (DDD)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(fresher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ddd subdomain map</a:t>
            </a:r>
          </a:p>
        </p:txBody>
      </p:sp>
      <p:pic>
        <p:nvPicPr>
          <p:cNvPr id="3" name="Picture 2" descr="ddd_subdomai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290" y="804672"/>
            <a:ext cx="7537419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ddd bc service map</a:t>
            </a:r>
          </a:p>
        </p:txBody>
      </p:sp>
      <p:pic>
        <p:nvPicPr>
          <p:cNvPr id="3" name="Picture 2" descr="ddd_bc_servi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9681"/>
            <a:ext cx="8321040" cy="33118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erd core bounded contexts</a:t>
            </a:r>
          </a:p>
        </p:txBody>
      </p:sp>
      <p:pic>
        <p:nvPicPr>
          <p:cNvPr id="3" name="Picture 2" descr="erd_core_bounded_contex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2" y="804672"/>
            <a:ext cx="5659075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4. Phân tích và thiết kế chức năng (Use case diagram)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(junior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bpmn booking swimlanes</a:t>
            </a:r>
          </a:p>
        </p:txBody>
      </p:sp>
      <p:pic>
        <p:nvPicPr>
          <p:cNvPr id="3" name="Picture 2" descr="bpmn_booking_swim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196" y="804672"/>
            <a:ext cx="3909607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uc journey roles en</a:t>
            </a:r>
          </a:p>
        </p:txBody>
      </p:sp>
      <p:pic>
        <p:nvPicPr>
          <p:cNvPr id="3" name="Picture 2" descr="uc_journey_rol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3587"/>
            <a:ext cx="8321040" cy="3544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5. Thiết kế kiến trúc hệ thống (SAD)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layers services infra</a:t>
            </a:r>
          </a:p>
        </p:txBody>
      </p:sp>
      <p:pic>
        <p:nvPicPr>
          <p:cNvPr id="3" name="Picture 2" descr="arch_layers_services_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11472"/>
            <a:ext cx="8321040" cy="262824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ms port map</a:t>
            </a:r>
          </a:p>
        </p:txBody>
      </p:sp>
      <p:pic>
        <p:nvPicPr>
          <p:cNvPr id="3" name="Picture 2" descr="arch_ms_por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709" y="804672"/>
            <a:ext cx="4182581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ms comm flow</a:t>
            </a:r>
          </a:p>
        </p:txBody>
      </p:sp>
      <p:pic>
        <p:nvPicPr>
          <p:cNvPr id="3" name="Picture 2" descr="arch_ms_com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6044"/>
            <a:ext cx="8321040" cy="34991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6. (tùy chọn) Mẫu thiết kế phần mềm (Design Pattern)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dp pattern catalog</a:t>
            </a:r>
          </a:p>
        </p:txBody>
      </p:sp>
      <p:pic>
        <p:nvPicPr>
          <p:cNvPr id="3" name="Picture 2" descr="dp_pattern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05189"/>
            <a:ext cx="8321040" cy="564081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integration pattern map</a:t>
            </a:r>
          </a:p>
        </p:txBody>
      </p:sp>
      <p:pic>
        <p:nvPicPr>
          <p:cNvPr id="3" name="Picture 2" descr="arch_integration_patter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52" y="804672"/>
            <a:ext cx="6017294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7. (tùy chọn) Cài đặt và triển khai (CI/CD)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cicd github actions docker</a:t>
            </a:r>
          </a:p>
        </p:txBody>
      </p:sp>
      <p:pic>
        <p:nvPicPr>
          <p:cNvPr id="3" name="Picture 2" descr="cicd_github_actions_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685" y="804672"/>
            <a:ext cx="2800629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deploy docker swarm topology</a:t>
            </a:r>
          </a:p>
        </p:txBody>
      </p:sp>
      <p:pic>
        <p:nvPicPr>
          <p:cNvPr id="3" name="Picture 2" descr="deploy_docker_swarm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86044"/>
            <a:ext cx="8321040" cy="18791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deploy swarm aws asbuilt</a:t>
            </a:r>
          </a:p>
        </p:txBody>
      </p:sp>
      <p:pic>
        <p:nvPicPr>
          <p:cNvPr id="3" name="Picture 2" descr="deploy_swarm_aws_asbu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13358"/>
            <a:ext cx="8321040" cy="242447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8. (tùy chọn) Ứng dụng AI (AI / AI agent pipeline)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ai agent rag retrieval</a:t>
            </a:r>
          </a:p>
        </p:txBody>
      </p:sp>
      <p:pic>
        <p:nvPicPr>
          <p:cNvPr id="3" name="Picture 2" descr="ai_agent_rag_retri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54056"/>
            <a:ext cx="8321040" cy="15430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ai ml sklearn train infer pipeline</a:t>
            </a:r>
          </a:p>
        </p:txBody>
      </p:sp>
      <p:pic>
        <p:nvPicPr>
          <p:cNvPr id="3" name="Picture 2" descr="ai_ml_sklearn_train_inf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858" y="804672"/>
            <a:ext cx="4380283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9. (tùy chọn) Giám sát hệ thống (System monitor)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(middle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  <a:p>
            <a:pPr>
              <a:spcAft>
                <a:spcPts val="300"/>
              </a:spcAft>
              <a:defRPr sz="1100"/>
            </a:pPr>
            <a:r>
              <a:t>ELK (Elastic Logstash Kibana): Logging.</a:t>
            </a:r>
          </a:p>
          <a:p>
            <a:pPr>
              <a:spcAft>
                <a:spcPts val="300"/>
              </a:spcAft>
              <a:defRPr sz="1100"/>
            </a:pPr>
            <a:r>
              <a:t>Grafana / Prometheus: Performance.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mon prometheus grafana stack</a:t>
            </a:r>
          </a:p>
        </p:txBody>
      </p:sp>
      <p:pic>
        <p:nvPicPr>
          <p:cNvPr id="3" name="Picture 2" descr="mon_prometheus_grafana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29483"/>
            <a:ext cx="8321040" cy="25922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10. (tùy chọn) Tối ưu kiến trúc giao dịch (Transaction process — MSA)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(senior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seq payment after ride complete</a:t>
            </a:r>
          </a:p>
        </p:txBody>
      </p:sp>
      <p:pic>
        <p:nvPicPr>
          <p:cNvPr id="3" name="Picture 2" descr="seq_payment_after_ride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978" y="804672"/>
            <a:ext cx="7004043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act payment online saga</a:t>
            </a:r>
          </a:p>
        </p:txBody>
      </p:sp>
      <p:pic>
        <p:nvPicPr>
          <p:cNvPr id="3" name="Picture 2" descr="act_payment_online_sa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8076"/>
            <a:ext cx="8321040" cy="367503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seq payment ipn idempotent</a:t>
            </a:r>
          </a:p>
        </p:txBody>
      </p:sp>
      <p:pic>
        <p:nvPicPr>
          <p:cNvPr id="3" name="Picture 2" descr="seq_payment_ipn_idempo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65560"/>
            <a:ext cx="8321040" cy="452007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11. (tùy chọn) Tối ưu hóa hệ thống đáp ứng nhu cầu (System scalability)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(senior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  <a:p>
            <a:pPr>
              <a:spcAft>
                <a:spcPts val="300"/>
              </a:spcAft>
              <a:defRPr sz="1100"/>
            </a:pPr>
            <a:r>
              <a:t>Đánh giá hiệu năng mở hệ thống.</a:t>
            </a:r>
          </a:p>
          <a:p>
            <a:pPr>
              <a:spcAft>
                <a:spcPts val="300"/>
              </a:spcAft>
              <a:defRPr sz="1100"/>
            </a:pPr>
            <a:r>
              <a:t>Ví dụ: quy mô lớn — Yêu cầu hệ thống đáp ứng nhanh (SLA).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arch scalability approach</a:t>
            </a:r>
          </a:p>
        </p:txBody>
      </p:sp>
      <p:pic>
        <p:nvPicPr>
          <p:cNvPr id="3" name="Picture 2" descr="arch_scalability_appr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959" y="804672"/>
            <a:ext cx="4684080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12. (tùy chọn) Tăng cường bảo mật hệ thống và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(senior level)</a:t>
            </a:r>
          </a:p>
          <a:p>
            <a:pPr>
              <a:spcAft>
                <a:spcPts val="300"/>
              </a:spcAft>
              <a:defRPr sz="1100"/>
            </a:pPr>
            <a:r>
              <a:t>Nên dùng hình ảnh tự vẽ theo hệ thống của dự án và tự thuyết minh diễn giải.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sec trust boundary multitier</a:t>
            </a:r>
          </a:p>
        </p:txBody>
      </p:sp>
      <p:pic>
        <p:nvPicPr>
          <p:cNvPr id="3" name="Picture 2" descr="sec_trust_boundary_multi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899" y="804672"/>
            <a:ext cx="3336201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13. 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Mô tả bài toán ngắn gọn — danh sách gạch đầu dòng ý chính; tự thuyết minh chi tiết.</a:t>
            </a:r>
          </a:p>
          <a:p>
            <a:pPr>
              <a:spcAft>
                <a:spcPts val="300"/>
              </a:spcAft>
              <a:defRPr sz="1100"/>
            </a:pPr>
            <a:r>
              <a:t>Dùng bảng so sánh ưu điểm / nhược điểm.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2000"/>
            </a:pPr>
            <a:r>
              <a:t>14.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bIns="73152" lIns="45720"/>
          <a:lstStyle/>
          <a:p>
            <a:pPr>
              <a:spcAft>
                <a:spcPts val="300"/>
              </a:spcAft>
              <a:defRPr sz="1100"/>
            </a:pPr>
            <a:r>
              <a:t>Bắt đầu demo ứng dụng trực tiếp.</a:t>
            </a:r>
          </a:p>
          <a:p>
            <a:pPr>
              <a:spcAft>
                <a:spcPts val="300"/>
              </a:spcAft>
              <a:defRPr sz="1100"/>
            </a:pPr>
            <a:r>
              <a:t>Nạp dữ liệu mẫu trước; chọn quy trình hoàn chỉnh; dành thời gian cho chức năng đặc sắc (đặc biệt AI).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Minh họa: act booking end to end</a:t>
            </a:r>
          </a:p>
        </p:txBody>
      </p:sp>
      <p:pic>
        <p:nvPicPr>
          <p:cNvPr id="3" name="Picture 2" descr="act_booking_end_to_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744" y="804672"/>
            <a:ext cx="1210511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defRPr sz="2800"/>
            </a:pPr>
            <a:r>
              <a:t>Cảm ơn thầy cô và hội đồng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defRPr sz="1400"/>
            </a:pPr>
            <a: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